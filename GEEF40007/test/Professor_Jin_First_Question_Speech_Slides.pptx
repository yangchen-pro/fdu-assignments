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66ac21127c428d" /><Relationship Type="http://schemas.openxmlformats.org/officeDocument/2006/relationships/extended-properties" Target="/docProps/app.xml" Id="R3e7031453019473e" /><Relationship Type="http://schemas.openxmlformats.org/officeDocument/2006/relationships/officeDocument" Target="/ppt/presentation.xml" Id="R6c5e23d61815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c2e5cc0aa4ad8"/>
  </p:sldMasterIdLst>
  <p:notesMasterIdLst>
    <p:notesMasterId xmlns:r="http://schemas.openxmlformats.org/officeDocument/2006/relationships" r:id="Re9f63000f00b435a"/>
  </p:notesMasterIdLst>
  <p:sldIdLst>
    <p:sldId xmlns:r="http://schemas.openxmlformats.org/officeDocument/2006/relationships" id="256" r:id="Rec81ffe9448741d5"/>
    <p:sldId xmlns:r="http://schemas.openxmlformats.org/officeDocument/2006/relationships" id="257" r:id="R150360106a9a45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c2e5cc0aa4ad8" /><Relationship Type="http://schemas.openxmlformats.org/officeDocument/2006/relationships/theme" Target="/ppt/theme/theme1.xml" Id="R851ecb1b856c4035" /><Relationship Type="http://schemas.openxmlformats.org/officeDocument/2006/relationships/notesMaster" Target="/ppt/notesMasters/notesMaster1.xml" Id="Re9f63000f00b435a" /><Relationship Type="http://schemas.openxmlformats.org/officeDocument/2006/relationships/presProps" Target="/ppt/presProps.xml" Id="Rd797408baf8a45fb" /><Relationship Type="http://schemas.openxmlformats.org/officeDocument/2006/relationships/viewProps" Target="/ppt/viewProps.xml" Id="R6b08a4a5116f4838" /><Relationship Type="http://schemas.openxmlformats.org/officeDocument/2006/relationships/tableStyles" Target="/ppt/tableStyles.xml" Id="R5823ebc7dc59439b" /><Relationship Type="http://schemas.openxmlformats.org/officeDocument/2006/relationships/slide" Target="/ppt/slides/slide1.xml" Id="Rec81ffe9448741d5" /><Relationship Type="http://schemas.openxmlformats.org/officeDocument/2006/relationships/slide" Target="/ppt/slides/slide2.xml" Id="R150360106a9a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6e5b5b421d4d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b8cd312544389" /><Relationship Type="http://schemas.openxmlformats.org/officeDocument/2006/relationships/notesMaster" Target="/ppt/notesMasters/notesMaster1.xml" Id="R5bdbca6900874b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dbfe7db11c4692" /><Relationship Type="http://schemas.openxmlformats.org/officeDocument/2006/relationships/notesMaster" Target="/ppt/notesMasters/notesMaster1.xml" Id="Rac223a2982bc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2042ec56449e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f260b4b6244fb2" /><Relationship Type="http://schemas.openxmlformats.org/officeDocument/2006/relationships/slideLayout" Target="/ppt/slideLayouts/slideLayout2.xml" Id="R840a72c4122b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0a72c4122b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14c18d5e743a6" /><Relationship Type="http://schemas.openxmlformats.org/officeDocument/2006/relationships/notesSlide" Target="/ppt/notesSlides/notesSlide1.xml" Id="R5e7e9717098f48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13ee151a8484f" /><Relationship Type="http://schemas.openxmlformats.org/officeDocument/2006/relationships/notesSlide" Target="/ppt/notesSlides/notesSlide2.xml" Id="Ree370dc5a59149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D14DA27-530C-4EB7-8A5E-84A39EC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2D9A823-D262-40B8-A394-3B4B004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48C73D43-4B18-4A4C-92B7-F39A8BD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0"/>
            <a:ext cx="11372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</p:spPr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190ABF8B-6D70-4132-801E-96CA0031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29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PROFESSOR JIN’S STORY  |  ACADEMIC CONFERENCE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D11C05-C8F1-4696-ACEA-5412025B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62050"/>
            <a:ext cx="657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Professor Jin’s First Academic Question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F75BE10-6ADA-492B-903F-90DE8CA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628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From careful listening to a brave first step at an academic conference</a:t>
            </a:r>
          </a:p>
        </p:txBody>
      </p:sp>
      <p:sp>
        <p:nvSpPr>
          <p:cNvPr id="7" name="quote-panel">
            <a:extLst xmlns:a="http://schemas.openxmlformats.org/drawingml/2006/main">
              <a:ext uri="{FF2B5EF4-FFF2-40B4-BE49-F238E27FC236}">
                <a16:creationId xmlns:a16="http://schemas.microsoft.com/office/drawing/2014/main" id="{46BF893B-C0D6-4EBF-A847-B0ED7734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29527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8" name="quote-accent">
            <a:extLst xmlns:a="http://schemas.openxmlformats.org/drawingml/2006/main">
              <a:ext uri="{FF2B5EF4-FFF2-40B4-BE49-F238E27FC236}">
                <a16:creationId xmlns:a16="http://schemas.microsoft.com/office/drawing/2014/main" id="{6A744494-32B5-4BBA-9B79-06C48232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quote-main">
            <a:extLst xmlns:a="http://schemas.openxmlformats.org/drawingml/2006/main">
              <a:ext uri="{FF2B5EF4-FFF2-40B4-BE49-F238E27FC236}">
                <a16:creationId xmlns:a16="http://schemas.microsoft.com/office/drawing/2014/main" id="{E1FA7F01-3E4E-4C5A-9010-EB2742B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76350"/>
            <a:ext cx="2305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“Small question, big step.”</a:t>
            </a:r>
          </a:p>
        </p:txBody>
      </p:sp>
      <p:sp>
        <p:nvSpPr>
          <p:cNvPr id="10" name="quote-sub">
            <a:extLst xmlns:a="http://schemas.openxmlformats.org/drawingml/2006/main">
              <a:ext uri="{FF2B5EF4-FFF2-40B4-BE49-F238E27FC236}">
                <a16:creationId xmlns:a16="http://schemas.microsoft.com/office/drawing/2014/main" id="{54679696-218F-47D2-8380-222002E0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19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Core idea: courage grows through preparation.</a:t>
            </a:r>
          </a:p>
        </p:txBody>
      </p:sp>
      <p:sp>
        <p:nvSpPr>
          <p:cNvPr id="11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34A441A-A9AC-49E2-997A-6DD82A8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91025"/>
            <a:ext cx="833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E"/>
          </a:solidFill>
        </p:spPr>
      </p:sp>
      <p:sp>
        <p:nvSpPr>
          <p:cNvPr id="12" name="step-1-card">
            <a:extLst xmlns:a="http://schemas.openxmlformats.org/drawingml/2006/main">
              <a:ext uri="{FF2B5EF4-FFF2-40B4-BE49-F238E27FC236}">
                <a16:creationId xmlns:a16="http://schemas.microsoft.com/office/drawing/2014/main" id="{79DCE02C-6752-443D-ACA6-18F0A162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22479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3" name="step-1-dot">
            <a:extLst xmlns:a="http://schemas.openxmlformats.org/drawingml/2006/main">
              <a:ext uri="{FF2B5EF4-FFF2-40B4-BE49-F238E27FC236}">
                <a16:creationId xmlns:a16="http://schemas.microsoft.com/office/drawing/2014/main" id="{C1C2AB3A-DD4F-420A-9578-E54D110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</p:spPr>
      </p:sp>
      <p:sp>
        <p:nvSpPr>
          <p:cNvPr id="14" name="step-1-num">
            <a:extLst xmlns:a="http://schemas.openxmlformats.org/drawingml/2006/main">
              <a:ext uri="{FF2B5EF4-FFF2-40B4-BE49-F238E27FC236}">
                <a16:creationId xmlns:a16="http://schemas.microsoft.com/office/drawing/2014/main" id="{AAAEB276-5551-4387-AFC9-09CCC9C9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26720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5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D942ECB6-E461-4D5E-9589-28D37FDE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179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Listen</a:t>
            </a:r>
          </a:p>
        </p:txBody>
      </p:sp>
      <p:sp>
        <p:nvSpPr>
          <p:cNvPr id="16" name="step-1-body">
            <a:extLst xmlns:a="http://schemas.openxmlformats.org/drawingml/2006/main">
              <a:ext uri="{FF2B5EF4-FFF2-40B4-BE49-F238E27FC236}">
                <a16:creationId xmlns:a16="http://schemas.microsoft.com/office/drawing/2014/main" id="{8AC8CCDE-B082-49E9-AB79-975EEC7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Follow the English talk and catch main ideas</a:t>
            </a:r>
          </a:p>
        </p:txBody>
      </p:sp>
      <p:sp>
        <p:nvSpPr>
          <p:cNvPr id="17" name="step-2-card">
            <a:extLst xmlns:a="http://schemas.openxmlformats.org/drawingml/2006/main">
              <a:ext uri="{FF2B5EF4-FFF2-40B4-BE49-F238E27FC236}">
                <a16:creationId xmlns:a16="http://schemas.microsoft.com/office/drawing/2014/main" id="{C07CD468-D911-40AD-BF45-E1406B4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81500"/>
            <a:ext cx="22479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8" name="step-2-dot">
            <a:extLst xmlns:a="http://schemas.openxmlformats.org/drawingml/2006/main">
              <a:ext uri="{FF2B5EF4-FFF2-40B4-BE49-F238E27FC236}">
                <a16:creationId xmlns:a16="http://schemas.microsoft.com/office/drawing/2014/main" id="{DC9FDFFC-5393-4394-A33C-5B66C21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9" name="step-2-num">
            <a:extLst xmlns:a="http://schemas.openxmlformats.org/drawingml/2006/main">
              <a:ext uri="{FF2B5EF4-FFF2-40B4-BE49-F238E27FC236}">
                <a16:creationId xmlns:a16="http://schemas.microsoft.com/office/drawing/2014/main" id="{7CCF6A27-395D-4228-99F0-7644C985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6720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0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FFBB7A2E-B923-427F-8803-62CC3F6D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24400"/>
            <a:ext cx="179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Prepare</a:t>
            </a:r>
          </a:p>
        </p:txBody>
      </p:sp>
      <p:sp>
        <p:nvSpPr>
          <p:cNvPr id="21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1E13C2C-100C-42EB-8B23-196F5B40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Choose one question and write it down</a:t>
            </a:r>
          </a:p>
        </p:txBody>
      </p:sp>
      <p:sp>
        <p:nvSpPr>
          <p:cNvPr id="22" name="step-3-card">
            <a:extLst xmlns:a="http://schemas.openxmlformats.org/drawingml/2006/main">
              <a:ext uri="{FF2B5EF4-FFF2-40B4-BE49-F238E27FC236}">
                <a16:creationId xmlns:a16="http://schemas.microsoft.com/office/drawing/2014/main" id="{1E3E982D-9442-4B79-8E6C-D22E7952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2479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3" name="step-3-dot">
            <a:extLst xmlns:a="http://schemas.openxmlformats.org/drawingml/2006/main">
              <a:ext uri="{FF2B5EF4-FFF2-40B4-BE49-F238E27FC236}">
                <a16:creationId xmlns:a16="http://schemas.microsoft.com/office/drawing/2014/main" id="{191A8585-4E97-4119-8B55-99DD5CB3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4" name="step-3-num">
            <a:extLst xmlns:a="http://schemas.openxmlformats.org/drawingml/2006/main">
              <a:ext uri="{FF2B5EF4-FFF2-40B4-BE49-F238E27FC236}">
                <a16:creationId xmlns:a16="http://schemas.microsoft.com/office/drawing/2014/main" id="{8B08E579-7E48-4D6A-B47B-EECFB766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6720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5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1F03F46E-8B42-45D6-B3BC-E30B6BA3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24400"/>
            <a:ext cx="179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Ask</a:t>
            </a:r>
          </a:p>
        </p:txBody>
      </p:sp>
      <p:sp>
        <p:nvSpPr>
          <p:cNvPr id="26" name="step-3-body">
            <a:extLst xmlns:a="http://schemas.openxmlformats.org/drawingml/2006/main">
              <a:ext uri="{FF2B5EF4-FFF2-40B4-BE49-F238E27FC236}">
                <a16:creationId xmlns:a16="http://schemas.microsoft.com/office/drawing/2014/main" id="{E5FE64F2-8F68-4905-BD11-8093F263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Raise his hand at the right moment</a:t>
            </a:r>
          </a:p>
        </p:txBody>
      </p:sp>
      <p:sp>
        <p:nvSpPr>
          <p:cNvPr id="27" name="step-4-card">
            <a:extLst xmlns:a="http://schemas.openxmlformats.org/drawingml/2006/main">
              <a:ext uri="{FF2B5EF4-FFF2-40B4-BE49-F238E27FC236}">
                <a16:creationId xmlns:a16="http://schemas.microsoft.com/office/drawing/2014/main" id="{66C93D15-41D9-454C-B27F-125DD51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22479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28" name="step-4-dot">
            <a:extLst xmlns:a="http://schemas.openxmlformats.org/drawingml/2006/main">
              <a:ext uri="{FF2B5EF4-FFF2-40B4-BE49-F238E27FC236}">
                <a16:creationId xmlns:a16="http://schemas.microsoft.com/office/drawing/2014/main" id="{001B2177-0619-4C4D-BB34-24DC4E6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9" name="step-4-num">
            <a:extLst xmlns:a="http://schemas.openxmlformats.org/drawingml/2006/main">
              <a:ext uri="{FF2B5EF4-FFF2-40B4-BE49-F238E27FC236}">
                <a16:creationId xmlns:a16="http://schemas.microsoft.com/office/drawing/2014/main" id="{860F2A2C-D2EA-4EC6-ABF1-590CF06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67200"/>
            <a:ext cx="20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0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593C13B7-9395-40A3-A5E9-7B01059B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1790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Repeat</a:t>
            </a:r>
          </a:p>
        </p:txBody>
      </p:sp>
      <p:sp>
        <p:nvSpPr>
          <p:cNvPr id="3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F2B8CBF0-B075-408E-918E-56C9DE6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10150"/>
            <a:ext cx="1790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Stay calm and repeat clearly</a:t>
            </a:r>
          </a:p>
        </p:txBody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9F2B5F5F-827B-44C2-B4CA-88F2F9D8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293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Professor Jin’s first question at an academic conference</a:t>
            </a:r>
          </a:p>
        </p:txBody>
      </p:sp>
    </p:spTree>
    <p:extLst>
      <p:ext uri="{BB962C8B-B14F-4D97-AF65-F5344CB8AC3E}">
        <p14:creationId xmlns:p14="http://schemas.microsoft.com/office/powerpoint/2010/main" val="1470586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62F8579-EDDE-4E14-B733-C6F3B3E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1FC0B9C7-64D3-4303-863C-CB3BA214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5CFBD4E-E57F-4028-9D12-09EB0001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"/>
            <a:ext cx="419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t>KEY MESSAGE  |  TAKEAWAYS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65475E-D047-4A24-B5D7-D633798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What this story shows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DE5A207-3004-49A6-87D1-AC2C5C9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723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Courage, preparation, and practice turn a difficult moment into progress.</a:t>
            </a:r>
          </a:p>
        </p:txBody>
      </p:sp>
      <p:sp>
        <p:nvSpPr>
          <p:cNvPr id="6" name="card-Courage">
            <a:extLst xmlns:a="http://schemas.openxmlformats.org/drawingml/2006/main">
              <a:ext uri="{FF2B5EF4-FFF2-40B4-BE49-F238E27FC236}">
                <a16:creationId xmlns:a16="http://schemas.microsoft.com/office/drawing/2014/main" id="{625C8FC6-2DC4-4451-A001-8A97A80D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87655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7" name="bar-Courage">
            <a:extLst xmlns:a="http://schemas.openxmlformats.org/drawingml/2006/main">
              <a:ext uri="{FF2B5EF4-FFF2-40B4-BE49-F238E27FC236}">
                <a16:creationId xmlns:a16="http://schemas.microsoft.com/office/drawing/2014/main" id="{D2492A4F-3C73-47CD-AA88-5D373735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876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8" name="title-Courage">
            <a:extLst xmlns:a="http://schemas.openxmlformats.org/drawingml/2006/main">
              <a:ext uri="{FF2B5EF4-FFF2-40B4-BE49-F238E27FC236}">
                <a16:creationId xmlns:a16="http://schemas.microsoft.com/office/drawing/2014/main" id="{C1ADA6AB-7F2C-40F5-B932-C9160314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Courage</a:t>
            </a:r>
          </a:p>
        </p:txBody>
      </p:sp>
      <p:sp>
        <p:nvSpPr>
          <p:cNvPr id="9" name="body-Courage">
            <a:extLst xmlns:a="http://schemas.openxmlformats.org/drawingml/2006/main">
              <a:ext uri="{FF2B5EF4-FFF2-40B4-BE49-F238E27FC236}">
                <a16:creationId xmlns:a16="http://schemas.microsoft.com/office/drawing/2014/main" id="{7E2EB530-7C3B-4803-86F1-B69FE44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2305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He dared to ask even when his English was not perfect.</a:t>
            </a:r>
          </a:p>
        </p:txBody>
      </p:sp>
      <p:sp>
        <p:nvSpPr>
          <p:cNvPr id="10" name="card-Preparation">
            <a:extLst xmlns:a="http://schemas.openxmlformats.org/drawingml/2006/main">
              <a:ext uri="{FF2B5EF4-FFF2-40B4-BE49-F238E27FC236}">
                <a16:creationId xmlns:a16="http://schemas.microsoft.com/office/drawing/2014/main" id="{CAA57A9B-06DF-4B77-A4F6-6D49304E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7655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1" name="bar-Preparation">
            <a:extLst xmlns:a="http://schemas.openxmlformats.org/drawingml/2006/main">
              <a:ext uri="{FF2B5EF4-FFF2-40B4-BE49-F238E27FC236}">
                <a16:creationId xmlns:a16="http://schemas.microsoft.com/office/drawing/2014/main" id="{16A53EA6-2ABC-4F4F-BBEC-C26B0C3E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76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2" name="title-Preparation">
            <a:extLst xmlns:a="http://schemas.openxmlformats.org/drawingml/2006/main">
              <a:ext uri="{FF2B5EF4-FFF2-40B4-BE49-F238E27FC236}">
                <a16:creationId xmlns:a16="http://schemas.microsoft.com/office/drawing/2014/main" id="{42A828EB-4406-4D94-B45E-38FAB39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Preparation</a:t>
            </a:r>
          </a:p>
        </p:txBody>
      </p:sp>
      <p:sp>
        <p:nvSpPr>
          <p:cNvPr id="13" name="body-Preparation">
            <a:extLst xmlns:a="http://schemas.openxmlformats.org/drawingml/2006/main">
              <a:ext uri="{FF2B5EF4-FFF2-40B4-BE49-F238E27FC236}">
                <a16:creationId xmlns:a16="http://schemas.microsoft.com/office/drawing/2014/main" id="{F0920020-D375-4B2A-B124-B8FE32C0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2305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He listened carefully and wrote the question before speaking.</a:t>
            </a:r>
          </a:p>
        </p:txBody>
      </p:sp>
      <p:sp>
        <p:nvSpPr>
          <p:cNvPr id="14" name="card-Practice">
            <a:extLst xmlns:a="http://schemas.openxmlformats.org/drawingml/2006/main">
              <a:ext uri="{FF2B5EF4-FFF2-40B4-BE49-F238E27FC236}">
                <a16:creationId xmlns:a16="http://schemas.microsoft.com/office/drawing/2014/main" id="{41139274-37FE-4AD0-8F10-767DDEDF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7655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5" name="bar-Practice">
            <a:extLst xmlns:a="http://schemas.openxmlformats.org/drawingml/2006/main">
              <a:ext uri="{FF2B5EF4-FFF2-40B4-BE49-F238E27FC236}">
                <a16:creationId xmlns:a16="http://schemas.microsoft.com/office/drawing/2014/main" id="{1695DE2A-835E-4EE5-99C4-51EBC75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76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6" name="title-Practice">
            <a:extLst xmlns:a="http://schemas.openxmlformats.org/drawingml/2006/main">
              <a:ext uri="{FF2B5EF4-FFF2-40B4-BE49-F238E27FC236}">
                <a16:creationId xmlns:a16="http://schemas.microsoft.com/office/drawing/2014/main" id="{C2F734D0-06E6-4368-8113-5607771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Practice</a:t>
            </a:r>
          </a:p>
        </p:txBody>
      </p:sp>
      <p:sp>
        <p:nvSpPr>
          <p:cNvPr id="17" name="body-Practice">
            <a:extLst xmlns:a="http://schemas.openxmlformats.org/drawingml/2006/main">
              <a:ext uri="{FF2B5EF4-FFF2-40B4-BE49-F238E27FC236}">
                <a16:creationId xmlns:a16="http://schemas.microsoft.com/office/drawing/2014/main" id="{65D4D66C-0D77-4159-98DE-F878959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305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One successful try helped him become more confident later.</a:t>
            </a:r>
          </a:p>
        </p:txBody>
      </p:sp>
      <p:sp>
        <p:nvSpPr>
          <p:cNvPr id="18" name="lesson-panel">
            <a:extLst xmlns:a="http://schemas.openxmlformats.org/drawingml/2006/main">
              <a:ext uri="{FF2B5EF4-FFF2-40B4-BE49-F238E27FC236}">
                <a16:creationId xmlns:a16="http://schemas.microsoft.com/office/drawing/2014/main" id="{46F61088-A72D-46A5-A8AE-9D6B9A9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524750" cy="1485900"/>
          </a:xfrm>
          <a:prstGeom xmlns:a="http://schemas.openxmlformats.org/drawingml/2006/main" prst="roundRect">
            <a:avLst>
              <a:gd name="adj" fmla="val 1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</p:sp>
      <p:sp>
        <p:nvSpPr>
          <p:cNvPr id="19" name="lesson-accent">
            <a:extLst xmlns:a="http://schemas.openxmlformats.org/drawingml/2006/main">
              <a:ext uri="{FF2B5EF4-FFF2-40B4-BE49-F238E27FC236}">
                <a16:creationId xmlns:a16="http://schemas.microsoft.com/office/drawing/2014/main" id="{55F4D7B0-C372-43FB-B5A8-98B8195C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0" name="lesson-label">
            <a:extLst xmlns:a="http://schemas.openxmlformats.org/drawingml/2006/main">
              <a:ext uri="{FF2B5EF4-FFF2-40B4-BE49-F238E27FC236}">
                <a16:creationId xmlns:a16="http://schemas.microsoft.com/office/drawing/2014/main" id="{A8F76F0A-7C1B-430D-9895-CB6B9B54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t>Main lesson</a:t>
            </a:r>
          </a:p>
        </p:txBody>
      </p:sp>
      <p:sp>
        <p:nvSpPr>
          <p:cNvPr id="21" name="lesson">
            <a:extLst xmlns:a="http://schemas.openxmlformats.org/drawingml/2006/main">
              <a:ext uri="{FF2B5EF4-FFF2-40B4-BE49-F238E27FC236}">
                <a16:creationId xmlns:a16="http://schemas.microsoft.com/office/drawing/2014/main" id="{1CE43EAC-2D0A-46E8-A100-C4420374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6534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Good learning needs courage, preparation, and practice. We should not be afraid of making mistakes.</a:t>
            </a:r>
          </a:p>
        </p:txBody>
      </p:sp>
      <p:sp>
        <p:nvSpPr>
          <p:cNvPr id="22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F1F6F003-F778-442A-A607-31FB78C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23241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23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30FC44E0-BB6C-46D5-B5ED-503CFD53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148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t>Final thought</a:t>
            </a:r>
          </a:p>
        </p:txBody>
      </p:sp>
      <p:sp>
        <p:nvSpPr>
          <p:cNvPr id="24" name="closing">
            <a:extLst xmlns:a="http://schemas.openxmlformats.org/drawingml/2006/main">
              <a:ext uri="{FF2B5EF4-FFF2-40B4-BE49-F238E27FC236}">
                <a16:creationId xmlns:a16="http://schemas.microsoft.com/office/drawing/2014/main" id="{8258B9BF-29F3-4182-991D-9845B722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95850"/>
            <a:ext cx="16954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 brave first step can change us.</a:t>
            </a:r>
          </a:p>
        </p:txBody>
      </p:sp>
    </p:spTree>
    <p:extLst>
      <p:ext uri="{BB962C8B-B14F-4D97-AF65-F5344CB8AC3E}">
        <p14:creationId xmlns:p14="http://schemas.microsoft.com/office/powerpoint/2010/main" val="36489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2026-05-25T11:22:31.1260000Z</dcterms:created>
  <dcterms:modified xsi:type="dcterms:W3CDTF">2026-05-25T11:22:31.1260000Z</dcterms:modified>
</coreProperties>
</file>