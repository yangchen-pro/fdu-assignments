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7"/>
    <p:restoredTop sz="94658"/>
  </p:normalViewPr>
  <p:slideViewPr>
    <p:cSldViewPr snapToGrid="0">
      <p:cViewPr varScale="1">
        <p:scale>
          <a:sx n="120" d="100"/>
          <a:sy n="120" d="100"/>
        </p:scale>
        <p:origin x="3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B9167F59-B8B5-4B59-83BA-C79381322BF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571F08C-5ABE-4E3C-9C6E-1941269081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33F259-A484-45AF-8430-84D83073A2B2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704850" cy="3810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376B5C5-C4EC-4444-9D5B-796546B86B8E}"/>
              </a:ext>
            </a:extLst>
          </p:cNvPr>
          <p:cNvSpPr>
            <a:spLocks noGrp="1"/>
          </p:cNvSpPr>
          <p:nvPr/>
        </p:nvSpPr>
        <p:spPr>
          <a:xfrm>
            <a:off x="723900" y="5829300"/>
            <a:ext cx="3238500" cy="19050"/>
          </a:xfrm>
          <a:prstGeom prst="rect">
            <a:avLst/>
          </a:prstGeom>
          <a:solidFill>
            <a:srgbClr val="1E29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773F84A-E163-487D-9353-AD56CE850C93}"/>
              </a:ext>
            </a:extLst>
          </p:cNvPr>
          <p:cNvSpPr>
            <a:spLocks noGrp="1"/>
          </p:cNvSpPr>
          <p:nvPr/>
        </p:nvSpPr>
        <p:spPr>
          <a:xfrm>
            <a:off x="723900" y="1123950"/>
            <a:ext cx="6381750" cy="1181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114300" bIns="0" anchor="t"/>
          <a:lstStyle/>
          <a:p>
            <a:pPr algn="l">
              <a:buNone/>
              <a:defRPr sz="31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Teaching AI to</a:t>
            </a:r>
          </a:p>
          <a:p>
            <a:pPr algn="l">
              <a:buNone/>
              <a:defRPr sz="31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Play a Character</a:t>
            </a:r>
            <a:r>
              <a:rPr lang="en-US" altLang="zh-CN" sz="3225" b="1" baseline="300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[1]</a:t>
            </a:r>
            <a:endParaRPr sz="3225" b="1" baseline="30000" dirty="0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3E052E1-01DD-42FC-89C4-24AF66D7700F}"/>
              </a:ext>
            </a:extLst>
          </p:cNvPr>
          <p:cNvSpPr>
            <a:spLocks noGrp="1"/>
          </p:cNvSpPr>
          <p:nvPr/>
        </p:nvSpPr>
        <p:spPr>
          <a:xfrm>
            <a:off x="742950" y="2394537"/>
            <a:ext cx="6008724" cy="62731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114300" bIns="0" anchor="t"/>
          <a:lstStyle/>
          <a:p>
            <a:pPr algn="l">
              <a:buNone/>
              <a:defRPr sz="16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875" b="0" dirty="0">
                <a:solidFill>
                  <a:srgbClr val="C9D3E0"/>
                </a:solidFill>
                <a:latin typeface="Times New Roman"/>
                <a:ea typeface="Times New Roman"/>
                <a:cs typeface="Times New Roman"/>
              </a:rPr>
              <a:t>Role learning from stories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B38B2F5-AF4C-4D1A-8101-66F3CD24E860}"/>
              </a:ext>
            </a:extLst>
          </p:cNvPr>
          <p:cNvSpPr>
            <a:spLocks noGrp="1"/>
          </p:cNvSpPr>
          <p:nvPr/>
        </p:nvSpPr>
        <p:spPr>
          <a:xfrm>
            <a:off x="742949" y="4076256"/>
            <a:ext cx="2170371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38BDF8"/>
                </a:solidFill>
                <a:latin typeface="Times New Roman"/>
                <a:ea typeface="Times New Roman"/>
                <a:cs typeface="Times New Roman"/>
              </a:rPr>
              <a:t>Presenter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0866D98-7DEE-477B-BF38-587719002FE9}"/>
              </a:ext>
            </a:extLst>
          </p:cNvPr>
          <p:cNvSpPr>
            <a:spLocks noGrp="1"/>
          </p:cNvSpPr>
          <p:nvPr/>
        </p:nvSpPr>
        <p:spPr>
          <a:xfrm>
            <a:off x="723900" y="4438428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Yang Chen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DA636E2-F739-436B-96A8-8F843445EA19}"/>
              </a:ext>
            </a:extLst>
          </p:cNvPr>
          <p:cNvSpPr>
            <a:spLocks noGrp="1"/>
          </p:cNvSpPr>
          <p:nvPr/>
        </p:nvSpPr>
        <p:spPr>
          <a:xfrm>
            <a:off x="742949" y="4952778"/>
            <a:ext cx="208531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38BDF8"/>
                </a:solidFill>
                <a:latin typeface="Times New Roman"/>
                <a:ea typeface="Times New Roman"/>
                <a:cs typeface="Times New Roman"/>
              </a:rPr>
              <a:t>Affiliation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E6AE81E-A131-46D0-B2C8-73D651080201}"/>
              </a:ext>
            </a:extLst>
          </p:cNvPr>
          <p:cNvSpPr>
            <a:spLocks noGrp="1"/>
          </p:cNvSpPr>
          <p:nvPr/>
        </p:nvSpPr>
        <p:spPr>
          <a:xfrm>
            <a:off x="748665" y="5295233"/>
            <a:ext cx="6096000" cy="53406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7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School of Data Science, Fudan University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C3C1004-A8E5-4A15-B493-2B1EC65A6F9A}"/>
              </a:ext>
            </a:extLst>
          </p:cNvPr>
          <p:cNvSpPr>
            <a:spLocks noGrp="1"/>
          </p:cNvSpPr>
          <p:nvPr/>
        </p:nvSpPr>
        <p:spPr>
          <a:xfrm>
            <a:off x="723900" y="6115050"/>
            <a:ext cx="10096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lang="en" sz="788" b="0" i="1" dirty="0">
                <a:solidFill>
                  <a:srgbClr val="C9D3E0"/>
                </a:solidFill>
                <a:latin typeface="Times New Roman"/>
                <a:ea typeface="Times New Roman"/>
                <a:cs typeface="Times New Roman"/>
              </a:rPr>
              <a:t>Reference</a:t>
            </a:r>
            <a:r>
              <a:rPr lang="en-US" altLang="zh-CN" sz="788" b="0" i="1" dirty="0">
                <a:solidFill>
                  <a:srgbClr val="C9D3E0"/>
                </a:solidFill>
                <a:latin typeface="Times New Roman"/>
                <a:ea typeface="Times New Roman"/>
                <a:cs typeface="Times New Roman"/>
              </a:rPr>
              <a:t>[1]</a:t>
            </a:r>
            <a:r>
              <a:rPr sz="788" b="0" i="1" dirty="0">
                <a:solidFill>
                  <a:srgbClr val="C9D3E0"/>
                </a:solidFill>
                <a:latin typeface="Times New Roman"/>
                <a:ea typeface="Times New Roman"/>
                <a:cs typeface="Times New Roman"/>
              </a:rPr>
              <a:t>: </a:t>
            </a:r>
            <a:r>
              <a:rPr sz="788" b="0" i="1" dirty="0" err="1">
                <a:solidFill>
                  <a:srgbClr val="C9D3E0"/>
                </a:solidFill>
                <a:latin typeface="Times New Roman"/>
                <a:ea typeface="Times New Roman"/>
                <a:cs typeface="Times New Roman"/>
              </a:rPr>
              <a:t>Yunfan</a:t>
            </a:r>
            <a:r>
              <a:rPr sz="788" b="0" i="1" dirty="0">
                <a:solidFill>
                  <a:srgbClr val="C9D3E0"/>
                </a:solidFill>
                <a:latin typeface="Times New Roman"/>
                <a:ea typeface="Times New Roman"/>
                <a:cs typeface="Times New Roman"/>
              </a:rPr>
              <a:t> Shao, </a:t>
            </a:r>
            <a:r>
              <a:rPr sz="788" b="0" i="1" dirty="0" err="1">
                <a:solidFill>
                  <a:srgbClr val="C9D3E0"/>
                </a:solidFill>
                <a:latin typeface="Times New Roman"/>
                <a:ea typeface="Times New Roman"/>
                <a:cs typeface="Times New Roman"/>
              </a:rPr>
              <a:t>Linyang</a:t>
            </a:r>
            <a:r>
              <a:rPr sz="788" b="0" i="1" dirty="0">
                <a:solidFill>
                  <a:srgbClr val="C9D3E0"/>
                </a:solidFill>
                <a:latin typeface="Times New Roman"/>
                <a:ea typeface="Times New Roman"/>
                <a:cs typeface="Times New Roman"/>
              </a:rPr>
              <a:t> Li, </a:t>
            </a:r>
            <a:r>
              <a:rPr sz="788" b="0" i="1" dirty="0" err="1">
                <a:solidFill>
                  <a:srgbClr val="C9D3E0"/>
                </a:solidFill>
                <a:latin typeface="Times New Roman"/>
                <a:ea typeface="Times New Roman"/>
                <a:cs typeface="Times New Roman"/>
              </a:rPr>
              <a:t>Junqi</a:t>
            </a:r>
            <a:r>
              <a:rPr sz="788" b="0" i="1" dirty="0">
                <a:solidFill>
                  <a:srgbClr val="C9D3E0"/>
                </a:solidFill>
                <a:latin typeface="Times New Roman"/>
                <a:ea typeface="Times New Roman"/>
                <a:cs typeface="Times New Roman"/>
              </a:rPr>
              <a:t> Dai, and </a:t>
            </a:r>
            <a:r>
              <a:rPr sz="788" b="0" i="1" dirty="0" err="1">
                <a:solidFill>
                  <a:srgbClr val="C9D3E0"/>
                </a:solidFill>
                <a:latin typeface="Times New Roman"/>
                <a:ea typeface="Times New Roman"/>
                <a:cs typeface="Times New Roman"/>
              </a:rPr>
              <a:t>Xipeng</a:t>
            </a:r>
            <a:r>
              <a:rPr sz="788" b="0" i="1" dirty="0">
                <a:solidFill>
                  <a:srgbClr val="C9D3E0"/>
                </a:solidFill>
                <a:latin typeface="Times New Roman"/>
                <a:ea typeface="Times New Roman"/>
                <a:cs typeface="Times New Roman"/>
              </a:rPr>
              <a:t> Qiu. 2023. Character-LLM: A Trainable Agent for Role-Playing. In Proceedings of the 2023 Conference on Empirical Methods in Natural Language Processing, pages 13153–13187, Singapore. Association for Computational Linguistics.</a:t>
            </a:r>
          </a:p>
        </p:txBody>
      </p:sp>
      <p:sp>
        <p:nvSpPr>
          <p:cNvPr id="16" name="diagram-top-rule">
            <a:extLst>
              <a:ext uri="{FF2B5EF4-FFF2-40B4-BE49-F238E27FC236}">
                <a16:creationId xmlns:a16="http://schemas.microsoft.com/office/drawing/2014/main" id="{1CEBA28F-1E5F-403F-B066-8D719715CEB4}"/>
              </a:ext>
            </a:extLst>
          </p:cNvPr>
          <p:cNvSpPr>
            <a:spLocks noGrp="1"/>
          </p:cNvSpPr>
          <p:nvPr/>
        </p:nvSpPr>
        <p:spPr>
          <a:xfrm>
            <a:off x="7858125" y="1638300"/>
            <a:ext cx="685800" cy="38100"/>
          </a:xfrm>
          <a:prstGeom prst="rect">
            <a:avLst/>
          </a:prstGeom>
          <a:solidFill>
            <a:srgbClr val="32D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diagram-node-story-halo">
            <a:extLst>
              <a:ext uri="{FF2B5EF4-FFF2-40B4-BE49-F238E27FC236}">
                <a16:creationId xmlns:a16="http://schemas.microsoft.com/office/drawing/2014/main" id="{E24062EB-4B90-4E34-B628-BF0072EE3EAF}"/>
              </a:ext>
            </a:extLst>
          </p:cNvPr>
          <p:cNvSpPr>
            <a:spLocks noGrp="1"/>
          </p:cNvSpPr>
          <p:nvPr/>
        </p:nvSpPr>
        <p:spPr>
          <a:xfrm>
            <a:off x="7953375" y="2476500"/>
            <a:ext cx="895350" cy="895350"/>
          </a:xfrm>
          <a:prstGeom prst="ellipse">
            <a:avLst/>
          </a:prstGeom>
          <a:solidFill>
            <a:srgbClr val="32D6FF">
              <a:alpha val="2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diagram-node-ai-halo">
            <a:extLst>
              <a:ext uri="{FF2B5EF4-FFF2-40B4-BE49-F238E27FC236}">
                <a16:creationId xmlns:a16="http://schemas.microsoft.com/office/drawing/2014/main" id="{AB8E0CCD-099F-4B60-872A-776C07DA980A}"/>
              </a:ext>
            </a:extLst>
          </p:cNvPr>
          <p:cNvSpPr>
            <a:spLocks noGrp="1"/>
          </p:cNvSpPr>
          <p:nvPr/>
        </p:nvSpPr>
        <p:spPr>
          <a:xfrm>
            <a:off x="9124950" y="2476500"/>
            <a:ext cx="895350" cy="895350"/>
          </a:xfrm>
          <a:prstGeom prst="ellipse">
            <a:avLst/>
          </a:prstGeom>
          <a:solidFill>
            <a:srgbClr val="32D6FF">
              <a:alpha val="2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diagram-node-character-halo">
            <a:extLst>
              <a:ext uri="{FF2B5EF4-FFF2-40B4-BE49-F238E27FC236}">
                <a16:creationId xmlns:a16="http://schemas.microsoft.com/office/drawing/2014/main" id="{99C0C49F-3D89-4202-BDF4-153EAFBBCC0B}"/>
              </a:ext>
            </a:extLst>
          </p:cNvPr>
          <p:cNvSpPr>
            <a:spLocks noGrp="1"/>
          </p:cNvSpPr>
          <p:nvPr/>
        </p:nvSpPr>
        <p:spPr>
          <a:xfrm>
            <a:off x="10287000" y="2476500"/>
            <a:ext cx="895350" cy="895350"/>
          </a:xfrm>
          <a:prstGeom prst="ellipse">
            <a:avLst/>
          </a:prstGeom>
          <a:solidFill>
            <a:srgbClr val="32D6FF">
              <a:alpha val="2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diagram-node-story">
            <a:extLst>
              <a:ext uri="{FF2B5EF4-FFF2-40B4-BE49-F238E27FC236}">
                <a16:creationId xmlns:a16="http://schemas.microsoft.com/office/drawing/2014/main" id="{8FF2C0E6-46FF-4DB4-8FF1-CE548DF050DF}"/>
              </a:ext>
            </a:extLst>
          </p:cNvPr>
          <p:cNvSpPr>
            <a:spLocks noGrp="1"/>
          </p:cNvSpPr>
          <p:nvPr/>
        </p:nvSpPr>
        <p:spPr>
          <a:xfrm>
            <a:off x="8058150" y="2581275"/>
            <a:ext cx="685800" cy="685800"/>
          </a:xfrm>
          <a:prstGeom prst="ellipse">
            <a:avLst/>
          </a:prstGeom>
          <a:solidFill>
            <a:srgbClr val="111B2A"/>
          </a:solidFill>
          <a:ln w="15240">
            <a:solidFill>
              <a:srgbClr val="32D6FF"/>
            </a:solidFill>
            <a:prstDash val="solid"/>
          </a:ln>
        </p:spPr>
      </p:sp>
      <p:sp>
        <p:nvSpPr>
          <p:cNvPr id="21" name="diagram-node-ai">
            <a:extLst>
              <a:ext uri="{FF2B5EF4-FFF2-40B4-BE49-F238E27FC236}">
                <a16:creationId xmlns:a16="http://schemas.microsoft.com/office/drawing/2014/main" id="{71989974-FC4F-4DC6-A65D-D7739D4864C0}"/>
              </a:ext>
            </a:extLst>
          </p:cNvPr>
          <p:cNvSpPr>
            <a:spLocks noGrp="1"/>
          </p:cNvSpPr>
          <p:nvPr/>
        </p:nvSpPr>
        <p:spPr>
          <a:xfrm>
            <a:off x="9229725" y="2581275"/>
            <a:ext cx="685800" cy="685800"/>
          </a:xfrm>
          <a:prstGeom prst="ellipse">
            <a:avLst/>
          </a:prstGeom>
          <a:solidFill>
            <a:srgbClr val="111B2A"/>
          </a:solidFill>
          <a:ln w="15240">
            <a:solidFill>
              <a:srgbClr val="32D6FF"/>
            </a:solidFill>
            <a:prstDash val="solid"/>
          </a:ln>
        </p:spPr>
      </p:sp>
      <p:sp>
        <p:nvSpPr>
          <p:cNvPr id="22" name="diagram-node-character">
            <a:extLst>
              <a:ext uri="{FF2B5EF4-FFF2-40B4-BE49-F238E27FC236}">
                <a16:creationId xmlns:a16="http://schemas.microsoft.com/office/drawing/2014/main" id="{8770CF14-F71A-4547-8D2C-DB0F51ABE1A5}"/>
              </a:ext>
            </a:extLst>
          </p:cNvPr>
          <p:cNvSpPr>
            <a:spLocks noGrp="1"/>
          </p:cNvSpPr>
          <p:nvPr/>
        </p:nvSpPr>
        <p:spPr>
          <a:xfrm>
            <a:off x="10391775" y="2581275"/>
            <a:ext cx="685800" cy="685800"/>
          </a:xfrm>
          <a:prstGeom prst="ellipse">
            <a:avLst/>
          </a:prstGeom>
          <a:solidFill>
            <a:srgbClr val="111B2A"/>
          </a:solidFill>
          <a:ln w="15240">
            <a:solidFill>
              <a:srgbClr val="32D6FF"/>
            </a:solidFill>
            <a:prstDash val="solid"/>
          </a:ln>
        </p:spPr>
      </p:sp>
      <p:sp>
        <p:nvSpPr>
          <p:cNvPr id="23" name="diagram-flow-1">
            <a:extLst>
              <a:ext uri="{FF2B5EF4-FFF2-40B4-BE49-F238E27FC236}">
                <a16:creationId xmlns:a16="http://schemas.microsoft.com/office/drawing/2014/main" id="{7B3EF0EB-402F-4790-ADD4-4781BE354499}"/>
              </a:ext>
            </a:extLst>
          </p:cNvPr>
          <p:cNvSpPr>
            <a:spLocks noGrp="1"/>
          </p:cNvSpPr>
          <p:nvPr/>
        </p:nvSpPr>
        <p:spPr>
          <a:xfrm>
            <a:off x="8772525" y="2905125"/>
            <a:ext cx="428625" cy="38100"/>
          </a:xfrm>
          <a:prstGeom prst="rect">
            <a:avLst/>
          </a:prstGeom>
          <a:solidFill>
            <a:srgbClr val="32D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diagram-flow-2">
            <a:extLst>
              <a:ext uri="{FF2B5EF4-FFF2-40B4-BE49-F238E27FC236}">
                <a16:creationId xmlns:a16="http://schemas.microsoft.com/office/drawing/2014/main" id="{A64FACA9-A10F-453C-8C56-D3F0B88D874A}"/>
              </a:ext>
            </a:extLst>
          </p:cNvPr>
          <p:cNvSpPr>
            <a:spLocks noGrp="1"/>
          </p:cNvSpPr>
          <p:nvPr/>
        </p:nvSpPr>
        <p:spPr>
          <a:xfrm>
            <a:off x="9944100" y="2905125"/>
            <a:ext cx="419100" cy="38100"/>
          </a:xfrm>
          <a:prstGeom prst="rect">
            <a:avLst/>
          </a:prstGeom>
          <a:solidFill>
            <a:srgbClr val="32D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diagram-book-left">
            <a:extLst>
              <a:ext uri="{FF2B5EF4-FFF2-40B4-BE49-F238E27FC236}">
                <a16:creationId xmlns:a16="http://schemas.microsoft.com/office/drawing/2014/main" id="{5516A0A6-D23A-47D4-BF8B-CB06029642E7}"/>
              </a:ext>
            </a:extLst>
          </p:cNvPr>
          <p:cNvSpPr>
            <a:spLocks noGrp="1"/>
          </p:cNvSpPr>
          <p:nvPr/>
        </p:nvSpPr>
        <p:spPr>
          <a:xfrm>
            <a:off x="8220075" y="2800350"/>
            <a:ext cx="209550" cy="266700"/>
          </a:xfrm>
          <a:prstGeom prst="rect">
            <a:avLst/>
          </a:prstGeom>
          <a:solidFill>
            <a:srgbClr val="E8EE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diagram-book-right">
            <a:extLst>
              <a:ext uri="{FF2B5EF4-FFF2-40B4-BE49-F238E27FC236}">
                <a16:creationId xmlns:a16="http://schemas.microsoft.com/office/drawing/2014/main" id="{63BBB1DC-663E-4655-91FA-AFF8A5ABBFD9}"/>
              </a:ext>
            </a:extLst>
          </p:cNvPr>
          <p:cNvSpPr>
            <a:spLocks noGrp="1"/>
          </p:cNvSpPr>
          <p:nvPr/>
        </p:nvSpPr>
        <p:spPr>
          <a:xfrm>
            <a:off x="8439150" y="2800350"/>
            <a:ext cx="209550" cy="266700"/>
          </a:xfrm>
          <a:prstGeom prst="rect">
            <a:avLst/>
          </a:prstGeom>
          <a:solidFill>
            <a:srgbClr val="E8EE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diagram-book-spine">
            <a:extLst>
              <a:ext uri="{FF2B5EF4-FFF2-40B4-BE49-F238E27FC236}">
                <a16:creationId xmlns:a16="http://schemas.microsoft.com/office/drawing/2014/main" id="{52FFF74D-CABD-43C4-8BA5-A7286AFB51F9}"/>
              </a:ext>
            </a:extLst>
          </p:cNvPr>
          <p:cNvSpPr>
            <a:spLocks noGrp="1"/>
          </p:cNvSpPr>
          <p:nvPr/>
        </p:nvSpPr>
        <p:spPr>
          <a:xfrm>
            <a:off x="8420100" y="2781300"/>
            <a:ext cx="28575" cy="304800"/>
          </a:xfrm>
          <a:prstGeom prst="rect">
            <a:avLst/>
          </a:prstGeom>
          <a:solidFill>
            <a:srgbClr val="32D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diagram-book-line-1">
            <a:extLst>
              <a:ext uri="{FF2B5EF4-FFF2-40B4-BE49-F238E27FC236}">
                <a16:creationId xmlns:a16="http://schemas.microsoft.com/office/drawing/2014/main" id="{2746E134-5454-4F52-8556-1D0157675825}"/>
              </a:ext>
            </a:extLst>
          </p:cNvPr>
          <p:cNvSpPr>
            <a:spLocks noGrp="1"/>
          </p:cNvSpPr>
          <p:nvPr/>
        </p:nvSpPr>
        <p:spPr>
          <a:xfrm>
            <a:off x="8258175" y="2867025"/>
            <a:ext cx="133350" cy="19050"/>
          </a:xfrm>
          <a:prstGeom prst="rect">
            <a:avLst/>
          </a:prstGeom>
          <a:solidFill>
            <a:srgbClr val="A8B5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diagram-book-line-2">
            <a:extLst>
              <a:ext uri="{FF2B5EF4-FFF2-40B4-BE49-F238E27FC236}">
                <a16:creationId xmlns:a16="http://schemas.microsoft.com/office/drawing/2014/main" id="{1A65D607-5360-4748-9F74-2784AF61C95B}"/>
              </a:ext>
            </a:extLst>
          </p:cNvPr>
          <p:cNvSpPr>
            <a:spLocks noGrp="1"/>
          </p:cNvSpPr>
          <p:nvPr/>
        </p:nvSpPr>
        <p:spPr>
          <a:xfrm>
            <a:off x="8477250" y="2867025"/>
            <a:ext cx="133350" cy="19050"/>
          </a:xfrm>
          <a:prstGeom prst="rect">
            <a:avLst/>
          </a:prstGeom>
          <a:solidFill>
            <a:srgbClr val="A8B5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diagram-book-line-3">
            <a:extLst>
              <a:ext uri="{FF2B5EF4-FFF2-40B4-BE49-F238E27FC236}">
                <a16:creationId xmlns:a16="http://schemas.microsoft.com/office/drawing/2014/main" id="{534062EA-9BFD-4A0D-A6B3-DCE9E7A84B73}"/>
              </a:ext>
            </a:extLst>
          </p:cNvPr>
          <p:cNvSpPr>
            <a:spLocks noGrp="1"/>
          </p:cNvSpPr>
          <p:nvPr/>
        </p:nvSpPr>
        <p:spPr>
          <a:xfrm>
            <a:off x="8258175" y="2952750"/>
            <a:ext cx="133350" cy="19050"/>
          </a:xfrm>
          <a:prstGeom prst="rect">
            <a:avLst/>
          </a:prstGeom>
          <a:solidFill>
            <a:srgbClr val="A8B5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diagram-book-line-4">
            <a:extLst>
              <a:ext uri="{FF2B5EF4-FFF2-40B4-BE49-F238E27FC236}">
                <a16:creationId xmlns:a16="http://schemas.microsoft.com/office/drawing/2014/main" id="{896AB7E4-D88D-46E9-9B3F-1EACEF7C7319}"/>
              </a:ext>
            </a:extLst>
          </p:cNvPr>
          <p:cNvSpPr>
            <a:spLocks noGrp="1"/>
          </p:cNvSpPr>
          <p:nvPr/>
        </p:nvSpPr>
        <p:spPr>
          <a:xfrm>
            <a:off x="8477250" y="2952750"/>
            <a:ext cx="133350" cy="19050"/>
          </a:xfrm>
          <a:prstGeom prst="rect">
            <a:avLst/>
          </a:prstGeom>
          <a:solidFill>
            <a:srgbClr val="A8B5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diagram-chip-core">
            <a:extLst>
              <a:ext uri="{FF2B5EF4-FFF2-40B4-BE49-F238E27FC236}">
                <a16:creationId xmlns:a16="http://schemas.microsoft.com/office/drawing/2014/main" id="{A38A2EB2-D96F-47C1-A181-6D33CBCB5248}"/>
              </a:ext>
            </a:extLst>
          </p:cNvPr>
          <p:cNvSpPr>
            <a:spLocks noGrp="1"/>
          </p:cNvSpPr>
          <p:nvPr/>
        </p:nvSpPr>
        <p:spPr>
          <a:xfrm>
            <a:off x="9448800" y="2800350"/>
            <a:ext cx="247650" cy="247650"/>
          </a:xfrm>
          <a:prstGeom prst="rect">
            <a:avLst/>
          </a:prstGeom>
          <a:solidFill>
            <a:srgbClr val="E8EEF8"/>
          </a:solidFill>
          <a:ln w="9525">
            <a:solidFill>
              <a:srgbClr val="32D6FF"/>
            </a:solidFill>
            <a:prstDash val="solid"/>
          </a:ln>
        </p:spPr>
      </p:sp>
      <p:sp>
        <p:nvSpPr>
          <p:cNvPr id="33" name="diagram-chip-inner">
            <a:extLst>
              <a:ext uri="{FF2B5EF4-FFF2-40B4-BE49-F238E27FC236}">
                <a16:creationId xmlns:a16="http://schemas.microsoft.com/office/drawing/2014/main" id="{B78382F6-DD95-4FD0-9835-98C8350CD2A3}"/>
              </a:ext>
            </a:extLst>
          </p:cNvPr>
          <p:cNvSpPr>
            <a:spLocks noGrp="1"/>
          </p:cNvSpPr>
          <p:nvPr/>
        </p:nvSpPr>
        <p:spPr>
          <a:xfrm>
            <a:off x="9515475" y="2867025"/>
            <a:ext cx="114300" cy="114300"/>
          </a:xfrm>
          <a:prstGeom prst="rect">
            <a:avLst/>
          </a:prstGeom>
          <a:solidFill>
            <a:srgbClr val="11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diagram-chip-pin-top-0">
            <a:extLst>
              <a:ext uri="{FF2B5EF4-FFF2-40B4-BE49-F238E27FC236}">
                <a16:creationId xmlns:a16="http://schemas.microsoft.com/office/drawing/2014/main" id="{98698CC0-2811-41D5-A86A-0952F403EDD0}"/>
              </a:ext>
            </a:extLst>
          </p:cNvPr>
          <p:cNvSpPr>
            <a:spLocks noGrp="1"/>
          </p:cNvSpPr>
          <p:nvPr/>
        </p:nvSpPr>
        <p:spPr>
          <a:xfrm>
            <a:off x="9458325" y="2733675"/>
            <a:ext cx="28575" cy="76200"/>
          </a:xfrm>
          <a:prstGeom prst="rect">
            <a:avLst/>
          </a:prstGeom>
          <a:solidFill>
            <a:srgbClr val="32D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diagram-chip-pin-bottom-0">
            <a:extLst>
              <a:ext uri="{FF2B5EF4-FFF2-40B4-BE49-F238E27FC236}">
                <a16:creationId xmlns:a16="http://schemas.microsoft.com/office/drawing/2014/main" id="{DB09EC29-E78E-4C3F-A841-89421B56DC59}"/>
              </a:ext>
            </a:extLst>
          </p:cNvPr>
          <p:cNvSpPr>
            <a:spLocks noGrp="1"/>
          </p:cNvSpPr>
          <p:nvPr/>
        </p:nvSpPr>
        <p:spPr>
          <a:xfrm>
            <a:off x="9458325" y="3048000"/>
            <a:ext cx="28575" cy="76200"/>
          </a:xfrm>
          <a:prstGeom prst="rect">
            <a:avLst/>
          </a:prstGeom>
          <a:solidFill>
            <a:srgbClr val="32D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diagram-chip-pin-left-0">
            <a:extLst>
              <a:ext uri="{FF2B5EF4-FFF2-40B4-BE49-F238E27FC236}">
                <a16:creationId xmlns:a16="http://schemas.microsoft.com/office/drawing/2014/main" id="{43BC5536-88B9-4F9A-BAAF-90DB71A1A644}"/>
              </a:ext>
            </a:extLst>
          </p:cNvPr>
          <p:cNvSpPr>
            <a:spLocks noGrp="1"/>
          </p:cNvSpPr>
          <p:nvPr/>
        </p:nvSpPr>
        <p:spPr>
          <a:xfrm>
            <a:off x="9382125" y="2809875"/>
            <a:ext cx="76200" cy="28575"/>
          </a:xfrm>
          <a:prstGeom prst="rect">
            <a:avLst/>
          </a:prstGeom>
          <a:solidFill>
            <a:srgbClr val="32D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diagram-chip-pin-right-0">
            <a:extLst>
              <a:ext uri="{FF2B5EF4-FFF2-40B4-BE49-F238E27FC236}">
                <a16:creationId xmlns:a16="http://schemas.microsoft.com/office/drawing/2014/main" id="{72459CA1-12C4-4B55-8A1E-2A861B880C6D}"/>
              </a:ext>
            </a:extLst>
          </p:cNvPr>
          <p:cNvSpPr>
            <a:spLocks noGrp="1"/>
          </p:cNvSpPr>
          <p:nvPr/>
        </p:nvSpPr>
        <p:spPr>
          <a:xfrm>
            <a:off x="9696450" y="2809875"/>
            <a:ext cx="76200" cy="28575"/>
          </a:xfrm>
          <a:prstGeom prst="rect">
            <a:avLst/>
          </a:prstGeom>
          <a:solidFill>
            <a:srgbClr val="32D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diagram-chip-pin-top-1">
            <a:extLst>
              <a:ext uri="{FF2B5EF4-FFF2-40B4-BE49-F238E27FC236}">
                <a16:creationId xmlns:a16="http://schemas.microsoft.com/office/drawing/2014/main" id="{FAD4CC81-240A-4889-BA9B-D5822E95FC99}"/>
              </a:ext>
            </a:extLst>
          </p:cNvPr>
          <p:cNvSpPr>
            <a:spLocks noGrp="1"/>
          </p:cNvSpPr>
          <p:nvPr/>
        </p:nvSpPr>
        <p:spPr>
          <a:xfrm>
            <a:off x="9525000" y="2733675"/>
            <a:ext cx="28575" cy="76200"/>
          </a:xfrm>
          <a:prstGeom prst="rect">
            <a:avLst/>
          </a:prstGeom>
          <a:solidFill>
            <a:srgbClr val="32D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diagram-chip-pin-bottom-1">
            <a:extLst>
              <a:ext uri="{FF2B5EF4-FFF2-40B4-BE49-F238E27FC236}">
                <a16:creationId xmlns:a16="http://schemas.microsoft.com/office/drawing/2014/main" id="{564ABA00-4BB3-4E04-A37C-1316770C0650}"/>
              </a:ext>
            </a:extLst>
          </p:cNvPr>
          <p:cNvSpPr>
            <a:spLocks noGrp="1"/>
          </p:cNvSpPr>
          <p:nvPr/>
        </p:nvSpPr>
        <p:spPr>
          <a:xfrm>
            <a:off x="9525000" y="3048000"/>
            <a:ext cx="28575" cy="76200"/>
          </a:xfrm>
          <a:prstGeom prst="rect">
            <a:avLst/>
          </a:prstGeom>
          <a:solidFill>
            <a:srgbClr val="32D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diagram-chip-pin-left-1">
            <a:extLst>
              <a:ext uri="{FF2B5EF4-FFF2-40B4-BE49-F238E27FC236}">
                <a16:creationId xmlns:a16="http://schemas.microsoft.com/office/drawing/2014/main" id="{39487F49-3338-42E8-BCE8-7847C6A533FE}"/>
              </a:ext>
            </a:extLst>
          </p:cNvPr>
          <p:cNvSpPr>
            <a:spLocks noGrp="1"/>
          </p:cNvSpPr>
          <p:nvPr/>
        </p:nvSpPr>
        <p:spPr>
          <a:xfrm>
            <a:off x="9382125" y="2876550"/>
            <a:ext cx="76200" cy="28575"/>
          </a:xfrm>
          <a:prstGeom prst="rect">
            <a:avLst/>
          </a:prstGeom>
          <a:solidFill>
            <a:srgbClr val="32D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diagram-chip-pin-right-1">
            <a:extLst>
              <a:ext uri="{FF2B5EF4-FFF2-40B4-BE49-F238E27FC236}">
                <a16:creationId xmlns:a16="http://schemas.microsoft.com/office/drawing/2014/main" id="{ED8B2B2A-D4E2-4D06-98EA-BED86CCC0A02}"/>
              </a:ext>
            </a:extLst>
          </p:cNvPr>
          <p:cNvSpPr>
            <a:spLocks noGrp="1"/>
          </p:cNvSpPr>
          <p:nvPr/>
        </p:nvSpPr>
        <p:spPr>
          <a:xfrm>
            <a:off x="9696450" y="2876550"/>
            <a:ext cx="76200" cy="28575"/>
          </a:xfrm>
          <a:prstGeom prst="rect">
            <a:avLst/>
          </a:prstGeom>
          <a:solidFill>
            <a:srgbClr val="32D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diagram-chip-pin-top-2">
            <a:extLst>
              <a:ext uri="{FF2B5EF4-FFF2-40B4-BE49-F238E27FC236}">
                <a16:creationId xmlns:a16="http://schemas.microsoft.com/office/drawing/2014/main" id="{845A99BC-A7C1-488F-A4AC-57A7CE73F02A}"/>
              </a:ext>
            </a:extLst>
          </p:cNvPr>
          <p:cNvSpPr>
            <a:spLocks noGrp="1"/>
          </p:cNvSpPr>
          <p:nvPr/>
        </p:nvSpPr>
        <p:spPr>
          <a:xfrm>
            <a:off x="9591675" y="2733675"/>
            <a:ext cx="28575" cy="76200"/>
          </a:xfrm>
          <a:prstGeom prst="rect">
            <a:avLst/>
          </a:prstGeom>
          <a:solidFill>
            <a:srgbClr val="32D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diagram-chip-pin-bottom-2">
            <a:extLst>
              <a:ext uri="{FF2B5EF4-FFF2-40B4-BE49-F238E27FC236}">
                <a16:creationId xmlns:a16="http://schemas.microsoft.com/office/drawing/2014/main" id="{577F58E4-B39D-41F2-9964-17BBA58AE0B6}"/>
              </a:ext>
            </a:extLst>
          </p:cNvPr>
          <p:cNvSpPr>
            <a:spLocks noGrp="1"/>
          </p:cNvSpPr>
          <p:nvPr/>
        </p:nvSpPr>
        <p:spPr>
          <a:xfrm>
            <a:off x="9591675" y="3048000"/>
            <a:ext cx="28575" cy="76200"/>
          </a:xfrm>
          <a:prstGeom prst="rect">
            <a:avLst/>
          </a:prstGeom>
          <a:solidFill>
            <a:srgbClr val="32D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diagram-chip-pin-left-2">
            <a:extLst>
              <a:ext uri="{FF2B5EF4-FFF2-40B4-BE49-F238E27FC236}">
                <a16:creationId xmlns:a16="http://schemas.microsoft.com/office/drawing/2014/main" id="{DB6DD1C5-8B2E-4806-B2F6-E1283045E469}"/>
              </a:ext>
            </a:extLst>
          </p:cNvPr>
          <p:cNvSpPr>
            <a:spLocks noGrp="1"/>
          </p:cNvSpPr>
          <p:nvPr/>
        </p:nvSpPr>
        <p:spPr>
          <a:xfrm>
            <a:off x="9382125" y="2943225"/>
            <a:ext cx="76200" cy="28575"/>
          </a:xfrm>
          <a:prstGeom prst="rect">
            <a:avLst/>
          </a:prstGeom>
          <a:solidFill>
            <a:srgbClr val="32D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diagram-chip-pin-right-2">
            <a:extLst>
              <a:ext uri="{FF2B5EF4-FFF2-40B4-BE49-F238E27FC236}">
                <a16:creationId xmlns:a16="http://schemas.microsoft.com/office/drawing/2014/main" id="{528CAD31-3E99-46C9-A561-65D33E78E944}"/>
              </a:ext>
            </a:extLst>
          </p:cNvPr>
          <p:cNvSpPr>
            <a:spLocks noGrp="1"/>
          </p:cNvSpPr>
          <p:nvPr/>
        </p:nvSpPr>
        <p:spPr>
          <a:xfrm>
            <a:off x="9696450" y="2943225"/>
            <a:ext cx="76200" cy="28575"/>
          </a:xfrm>
          <a:prstGeom prst="rect">
            <a:avLst/>
          </a:prstGeom>
          <a:solidFill>
            <a:srgbClr val="32D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diagram-chip-pin-top-3">
            <a:extLst>
              <a:ext uri="{FF2B5EF4-FFF2-40B4-BE49-F238E27FC236}">
                <a16:creationId xmlns:a16="http://schemas.microsoft.com/office/drawing/2014/main" id="{E5142159-5BF9-44A2-BC94-C2A2AD0DEFEC}"/>
              </a:ext>
            </a:extLst>
          </p:cNvPr>
          <p:cNvSpPr>
            <a:spLocks noGrp="1"/>
          </p:cNvSpPr>
          <p:nvPr/>
        </p:nvSpPr>
        <p:spPr>
          <a:xfrm>
            <a:off x="9658350" y="2733675"/>
            <a:ext cx="28575" cy="76200"/>
          </a:xfrm>
          <a:prstGeom prst="rect">
            <a:avLst/>
          </a:prstGeom>
          <a:solidFill>
            <a:srgbClr val="32D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diagram-chip-pin-bottom-3">
            <a:extLst>
              <a:ext uri="{FF2B5EF4-FFF2-40B4-BE49-F238E27FC236}">
                <a16:creationId xmlns:a16="http://schemas.microsoft.com/office/drawing/2014/main" id="{A1FA934D-66C3-4C8D-875A-D3EE7D5E7A1E}"/>
              </a:ext>
            </a:extLst>
          </p:cNvPr>
          <p:cNvSpPr>
            <a:spLocks noGrp="1"/>
          </p:cNvSpPr>
          <p:nvPr/>
        </p:nvSpPr>
        <p:spPr>
          <a:xfrm>
            <a:off x="9658350" y="3048000"/>
            <a:ext cx="28575" cy="76200"/>
          </a:xfrm>
          <a:prstGeom prst="rect">
            <a:avLst/>
          </a:prstGeom>
          <a:solidFill>
            <a:srgbClr val="32D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diagram-chip-pin-left-3">
            <a:extLst>
              <a:ext uri="{FF2B5EF4-FFF2-40B4-BE49-F238E27FC236}">
                <a16:creationId xmlns:a16="http://schemas.microsoft.com/office/drawing/2014/main" id="{FD10A1C5-69F9-49F7-9FBB-5451F181B09A}"/>
              </a:ext>
            </a:extLst>
          </p:cNvPr>
          <p:cNvSpPr>
            <a:spLocks noGrp="1"/>
          </p:cNvSpPr>
          <p:nvPr/>
        </p:nvSpPr>
        <p:spPr>
          <a:xfrm>
            <a:off x="9382125" y="3009900"/>
            <a:ext cx="76200" cy="28575"/>
          </a:xfrm>
          <a:prstGeom prst="rect">
            <a:avLst/>
          </a:prstGeom>
          <a:solidFill>
            <a:srgbClr val="32D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diagram-chip-pin-right-3">
            <a:extLst>
              <a:ext uri="{FF2B5EF4-FFF2-40B4-BE49-F238E27FC236}">
                <a16:creationId xmlns:a16="http://schemas.microsoft.com/office/drawing/2014/main" id="{723D43E6-EBFF-4F76-9B38-D91B2B1EACA0}"/>
              </a:ext>
            </a:extLst>
          </p:cNvPr>
          <p:cNvSpPr>
            <a:spLocks noGrp="1"/>
          </p:cNvSpPr>
          <p:nvPr/>
        </p:nvSpPr>
        <p:spPr>
          <a:xfrm>
            <a:off x="9696450" y="3009900"/>
            <a:ext cx="76200" cy="28575"/>
          </a:xfrm>
          <a:prstGeom prst="rect">
            <a:avLst/>
          </a:prstGeom>
          <a:solidFill>
            <a:srgbClr val="32D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diagram-character-head">
            <a:extLst>
              <a:ext uri="{FF2B5EF4-FFF2-40B4-BE49-F238E27FC236}">
                <a16:creationId xmlns:a16="http://schemas.microsoft.com/office/drawing/2014/main" id="{CF5596C1-AD84-4AC2-876F-238E2B63D373}"/>
              </a:ext>
            </a:extLst>
          </p:cNvPr>
          <p:cNvSpPr>
            <a:spLocks noGrp="1"/>
          </p:cNvSpPr>
          <p:nvPr/>
        </p:nvSpPr>
        <p:spPr>
          <a:xfrm>
            <a:off x="10620375" y="2743200"/>
            <a:ext cx="228600" cy="228600"/>
          </a:xfrm>
          <a:prstGeom prst="ellipse">
            <a:avLst/>
          </a:prstGeom>
          <a:solidFill>
            <a:srgbClr val="E8EE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diagram-character-body">
            <a:extLst>
              <a:ext uri="{FF2B5EF4-FFF2-40B4-BE49-F238E27FC236}">
                <a16:creationId xmlns:a16="http://schemas.microsoft.com/office/drawing/2014/main" id="{F0C0C1D9-2C9E-4EDF-BE84-0A5382BBA250}"/>
              </a:ext>
            </a:extLst>
          </p:cNvPr>
          <p:cNvSpPr>
            <a:spLocks noGrp="1"/>
          </p:cNvSpPr>
          <p:nvPr/>
        </p:nvSpPr>
        <p:spPr>
          <a:xfrm>
            <a:off x="10525125" y="3000375"/>
            <a:ext cx="419100" cy="152400"/>
          </a:xfrm>
          <a:prstGeom prst="rect">
            <a:avLst/>
          </a:prstGeom>
          <a:solidFill>
            <a:srgbClr val="E8EE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diagram-character-eye-1">
            <a:extLst>
              <a:ext uri="{FF2B5EF4-FFF2-40B4-BE49-F238E27FC236}">
                <a16:creationId xmlns:a16="http://schemas.microsoft.com/office/drawing/2014/main" id="{2D3BB1C3-A896-4870-B2F5-D3259C8FB9DC}"/>
              </a:ext>
            </a:extLst>
          </p:cNvPr>
          <p:cNvSpPr>
            <a:spLocks noGrp="1"/>
          </p:cNvSpPr>
          <p:nvPr/>
        </p:nvSpPr>
        <p:spPr>
          <a:xfrm>
            <a:off x="10677525" y="2819400"/>
            <a:ext cx="38100" cy="38100"/>
          </a:xfrm>
          <a:prstGeom prst="ellipse">
            <a:avLst/>
          </a:prstGeom>
          <a:solidFill>
            <a:srgbClr val="11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diagram-character-eye-2">
            <a:extLst>
              <a:ext uri="{FF2B5EF4-FFF2-40B4-BE49-F238E27FC236}">
                <a16:creationId xmlns:a16="http://schemas.microsoft.com/office/drawing/2014/main" id="{A1203AAE-798D-4415-964C-DE19970F6573}"/>
              </a:ext>
            </a:extLst>
          </p:cNvPr>
          <p:cNvSpPr>
            <a:spLocks noGrp="1"/>
          </p:cNvSpPr>
          <p:nvPr/>
        </p:nvSpPr>
        <p:spPr>
          <a:xfrm>
            <a:off x="10763250" y="2819400"/>
            <a:ext cx="38100" cy="38100"/>
          </a:xfrm>
          <a:prstGeom prst="ellipse">
            <a:avLst/>
          </a:prstGeom>
          <a:solidFill>
            <a:srgbClr val="11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diagram-character-smile">
            <a:extLst>
              <a:ext uri="{FF2B5EF4-FFF2-40B4-BE49-F238E27FC236}">
                <a16:creationId xmlns:a16="http://schemas.microsoft.com/office/drawing/2014/main" id="{B64A1C82-D466-4FEB-A132-F39ECEC3BC1D}"/>
              </a:ext>
            </a:extLst>
          </p:cNvPr>
          <p:cNvSpPr>
            <a:spLocks noGrp="1"/>
          </p:cNvSpPr>
          <p:nvPr/>
        </p:nvSpPr>
        <p:spPr>
          <a:xfrm>
            <a:off x="10687050" y="2905125"/>
            <a:ext cx="114300" cy="19050"/>
          </a:xfrm>
          <a:prstGeom prst="rect">
            <a:avLst/>
          </a:prstGeom>
          <a:solidFill>
            <a:srgbClr val="32D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diagram-base-line">
            <a:extLst>
              <a:ext uri="{FF2B5EF4-FFF2-40B4-BE49-F238E27FC236}">
                <a16:creationId xmlns:a16="http://schemas.microsoft.com/office/drawing/2014/main" id="{223CF575-84D9-4F08-A828-6B292670EEFF}"/>
              </a:ext>
            </a:extLst>
          </p:cNvPr>
          <p:cNvSpPr>
            <a:spLocks noGrp="1"/>
          </p:cNvSpPr>
          <p:nvPr/>
        </p:nvSpPr>
        <p:spPr>
          <a:xfrm>
            <a:off x="7981950" y="3695700"/>
            <a:ext cx="2724150" cy="19050"/>
          </a:xfrm>
          <a:prstGeom prst="rect">
            <a:avLst/>
          </a:prstGeom>
          <a:solidFill>
            <a:srgbClr val="2636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0675121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76</Words>
  <Application>Microsoft Macintosh PowerPoint</Application>
  <DocSecurity>0</DocSecurity>
  <PresentationFormat>宽屏</PresentationFormat>
  <Paragraphs>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Calibri</vt:lpstr>
      <vt:lpstr>Times New Roman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晨 杨</cp:lastModifiedBy>
  <cp:revision>16</cp:revision>
  <dcterms:created xsi:type="dcterms:W3CDTF">2026-05-24T08:52:13Z</dcterms:created>
  <dcterms:modified xsi:type="dcterms:W3CDTF">2026-06-08T11:38:19Z</dcterms:modified>
</cp:coreProperties>
</file>