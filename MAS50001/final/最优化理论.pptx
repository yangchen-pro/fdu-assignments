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1" r:id="rId2"/>
    <p:sldId id="289" r:id="rId3"/>
    <p:sldId id="296" r:id="rId4"/>
    <p:sldId id="297" r:id="rId5"/>
    <p:sldId id="298" r:id="rId6"/>
    <p:sldId id="307" r:id="rId7"/>
    <p:sldId id="309" r:id="rId8"/>
    <p:sldId id="310" r:id="rId9"/>
    <p:sldId id="311" r:id="rId10"/>
    <p:sldId id="312" r:id="rId11"/>
    <p:sldId id="313" r:id="rId12"/>
    <p:sldId id="314" r:id="rId13"/>
    <p:sldId id="316" r:id="rId14"/>
    <p:sldId id="317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295" r:id="rId24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EE"/>
    <a:srgbClr val="0E419C"/>
    <a:srgbClr val="F6B940"/>
    <a:srgbClr val="29A3FF"/>
    <a:srgbClr val="0594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hyperlink" Target="http://www.officeplus.cn/Template/Home.shtml" TargetMode="Externa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69925" y="2150019"/>
            <a:ext cx="4423002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320800"/>
            <a:ext cx="4423002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3189949"/>
            <a:ext cx="2045144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3453845"/>
            <a:ext cx="2045144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F624F40-FDF0-4DFD-921D-FAE4E25BFA8B}"/>
              </a:ext>
            </a:extLst>
          </p:cNvPr>
          <p:cNvGrpSpPr/>
          <p:nvPr userDrawn="1"/>
        </p:nvGrpSpPr>
        <p:grpSpPr>
          <a:xfrm>
            <a:off x="-12088" y="4794394"/>
            <a:ext cx="12204089" cy="2063607"/>
            <a:chOff x="-12088" y="4794394"/>
            <a:chExt cx="12204089" cy="2063607"/>
          </a:xfrm>
        </p:grpSpPr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5F3366FB-925F-4BB9-ADE6-445B1C7894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4582" y="4942832"/>
              <a:ext cx="11637418" cy="1915168"/>
            </a:xfrm>
            <a:custGeom>
              <a:avLst/>
              <a:gdLst>
                <a:gd name="connsiteX0" fmla="*/ 8612903 w 11637418"/>
                <a:gd name="connsiteY0" fmla="*/ 0 h 1915168"/>
                <a:gd name="connsiteX1" fmla="*/ 11637418 w 11637418"/>
                <a:gd name="connsiteY1" fmla="*/ 1581105 h 1915168"/>
                <a:gd name="connsiteX2" fmla="*/ 11637418 w 11637418"/>
                <a:gd name="connsiteY2" fmla="*/ 1915168 h 1915168"/>
                <a:gd name="connsiteX3" fmla="*/ 0 w 11637418"/>
                <a:gd name="connsiteY3" fmla="*/ 1915168 h 191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37418" h="1915168">
                  <a:moveTo>
                    <a:pt x="8612903" y="0"/>
                  </a:moveTo>
                  <a:lnTo>
                    <a:pt x="11637418" y="1581105"/>
                  </a:lnTo>
                  <a:lnTo>
                    <a:pt x="11637418" y="1915168"/>
                  </a:lnTo>
                  <a:lnTo>
                    <a:pt x="0" y="1915168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52220577-D5CA-4385-AF28-708CC21ACC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96" y="4794394"/>
              <a:ext cx="11856904" cy="2063607"/>
            </a:xfrm>
            <a:custGeom>
              <a:avLst/>
              <a:gdLst>
                <a:gd name="connsiteX0" fmla="*/ 7128328 w 11856904"/>
                <a:gd name="connsiteY0" fmla="*/ 0 h 2063607"/>
                <a:gd name="connsiteX1" fmla="*/ 11856904 w 11856904"/>
                <a:gd name="connsiteY1" fmla="*/ 1832069 h 2063607"/>
                <a:gd name="connsiteX2" fmla="*/ 11856904 w 11856904"/>
                <a:gd name="connsiteY2" fmla="*/ 2063607 h 2063607"/>
                <a:gd name="connsiteX3" fmla="*/ 0 w 11856904"/>
                <a:gd name="connsiteY3" fmla="*/ 2063607 h 206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6904" h="2063607">
                  <a:moveTo>
                    <a:pt x="7128328" y="0"/>
                  </a:moveTo>
                  <a:lnTo>
                    <a:pt x="11856904" y="1832069"/>
                  </a:lnTo>
                  <a:lnTo>
                    <a:pt x="11856904" y="2063607"/>
                  </a:lnTo>
                  <a:lnTo>
                    <a:pt x="0" y="2063607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0644CDC7-884B-40D9-B274-CF83A689E8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20" y="4847832"/>
              <a:ext cx="12052680" cy="2010168"/>
            </a:xfrm>
            <a:custGeom>
              <a:avLst/>
              <a:gdLst>
                <a:gd name="connsiteX0" fmla="*/ 5073792 w 12052680"/>
                <a:gd name="connsiteY0" fmla="*/ 0 h 2010168"/>
                <a:gd name="connsiteX1" fmla="*/ 12052680 w 12052680"/>
                <a:gd name="connsiteY1" fmla="*/ 1869250 h 2010168"/>
                <a:gd name="connsiteX2" fmla="*/ 12052680 w 12052680"/>
                <a:gd name="connsiteY2" fmla="*/ 2010168 h 2010168"/>
                <a:gd name="connsiteX3" fmla="*/ 0 w 12052680"/>
                <a:gd name="connsiteY3" fmla="*/ 2010168 h 201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2680" h="2010168">
                  <a:moveTo>
                    <a:pt x="5073792" y="0"/>
                  </a:moveTo>
                  <a:lnTo>
                    <a:pt x="12052680" y="1869250"/>
                  </a:lnTo>
                  <a:lnTo>
                    <a:pt x="12052680" y="2010168"/>
                  </a:lnTo>
                  <a:lnTo>
                    <a:pt x="0" y="20101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67600C7C-F5E7-4472-B9EF-A541C5C994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2088" y="5275332"/>
              <a:ext cx="12204089" cy="1582668"/>
            </a:xfrm>
            <a:custGeom>
              <a:avLst/>
              <a:gdLst>
                <a:gd name="connsiteX0" fmla="*/ 2856139 w 12204089"/>
                <a:gd name="connsiteY0" fmla="*/ 0 h 1582668"/>
                <a:gd name="connsiteX1" fmla="*/ 12204089 w 12204089"/>
                <a:gd name="connsiteY1" fmla="*/ 1521377 h 1582668"/>
                <a:gd name="connsiteX2" fmla="*/ 12204089 w 12204089"/>
                <a:gd name="connsiteY2" fmla="*/ 1582668 h 1582668"/>
                <a:gd name="connsiteX3" fmla="*/ 0 w 12204089"/>
                <a:gd name="connsiteY3" fmla="*/ 1582668 h 1582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4089" h="1582668">
                  <a:moveTo>
                    <a:pt x="2856139" y="0"/>
                  </a:moveTo>
                  <a:lnTo>
                    <a:pt x="12204089" y="1521377"/>
                  </a:lnTo>
                  <a:lnTo>
                    <a:pt x="12204089" y="1582668"/>
                  </a:lnTo>
                  <a:lnTo>
                    <a:pt x="0" y="1582668"/>
                  </a:lnTo>
                  <a:close/>
                </a:path>
              </a:pathLst>
            </a:custGeom>
            <a:solidFill>
              <a:schemeClr val="accent1">
                <a:alpha val="71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26B9DB5-1ADC-43B3-BCE8-970894DC9D39}"/>
              </a:ext>
            </a:extLst>
          </p:cNvPr>
          <p:cNvGrpSpPr/>
          <p:nvPr userDrawn="1"/>
        </p:nvGrpSpPr>
        <p:grpSpPr>
          <a:xfrm>
            <a:off x="7778078" y="0"/>
            <a:ext cx="4413923" cy="3499502"/>
            <a:chOff x="7778078" y="0"/>
            <a:chExt cx="4413923" cy="3499502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82A3C794-2A5C-4827-8C53-19689DBEDB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78078" y="1"/>
              <a:ext cx="4413922" cy="3499501"/>
            </a:xfrm>
            <a:custGeom>
              <a:avLst/>
              <a:gdLst>
                <a:gd name="connsiteX0" fmla="*/ 0 w 4413922"/>
                <a:gd name="connsiteY0" fmla="*/ 0 h 3499501"/>
                <a:gd name="connsiteX1" fmla="*/ 4413922 w 4413922"/>
                <a:gd name="connsiteY1" fmla="*/ 0 h 3499501"/>
                <a:gd name="connsiteX2" fmla="*/ 4413922 w 4413922"/>
                <a:gd name="connsiteY2" fmla="*/ 3499501 h 34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13922" h="3499501">
                  <a:moveTo>
                    <a:pt x="0" y="0"/>
                  </a:moveTo>
                  <a:lnTo>
                    <a:pt x="4413922" y="0"/>
                  </a:lnTo>
                  <a:lnTo>
                    <a:pt x="4413922" y="349950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8106E9DF-13A9-47FC-B0CC-7FCDA8A25A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21128" y="0"/>
              <a:ext cx="4370872" cy="2993432"/>
            </a:xfrm>
            <a:custGeom>
              <a:avLst/>
              <a:gdLst>
                <a:gd name="connsiteX0" fmla="*/ 0 w 4370872"/>
                <a:gd name="connsiteY0" fmla="*/ 0 h 2993432"/>
                <a:gd name="connsiteX1" fmla="*/ 4370872 w 4370872"/>
                <a:gd name="connsiteY1" fmla="*/ 0 h 2993432"/>
                <a:gd name="connsiteX2" fmla="*/ 4370872 w 4370872"/>
                <a:gd name="connsiteY2" fmla="*/ 2993432 h 299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0872" h="2993432">
                  <a:moveTo>
                    <a:pt x="0" y="0"/>
                  </a:moveTo>
                  <a:lnTo>
                    <a:pt x="4370872" y="0"/>
                  </a:lnTo>
                  <a:lnTo>
                    <a:pt x="4370872" y="2993432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5325FDB-6AF2-4496-97A8-DA1AB2DFD6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89890" y="1"/>
              <a:ext cx="4302111" cy="2419939"/>
            </a:xfrm>
            <a:custGeom>
              <a:avLst/>
              <a:gdLst>
                <a:gd name="connsiteX0" fmla="*/ 0 w 4302111"/>
                <a:gd name="connsiteY0" fmla="*/ 0 h 2419939"/>
                <a:gd name="connsiteX1" fmla="*/ 4302111 w 4302111"/>
                <a:gd name="connsiteY1" fmla="*/ 0 h 2419939"/>
                <a:gd name="connsiteX2" fmla="*/ 4302111 w 4302111"/>
                <a:gd name="connsiteY2" fmla="*/ 2419939 h 241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2111" h="2419939">
                  <a:moveTo>
                    <a:pt x="0" y="0"/>
                  </a:moveTo>
                  <a:lnTo>
                    <a:pt x="4302111" y="0"/>
                  </a:lnTo>
                  <a:lnTo>
                    <a:pt x="4302111" y="241993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EB936B51-CD51-4DC6-B0B3-AE7B16253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5356" y="0"/>
              <a:ext cx="4206644" cy="1895952"/>
            </a:xfrm>
            <a:custGeom>
              <a:avLst/>
              <a:gdLst>
                <a:gd name="connsiteX0" fmla="*/ 0 w 4206644"/>
                <a:gd name="connsiteY0" fmla="*/ 0 h 1895952"/>
                <a:gd name="connsiteX1" fmla="*/ 4206644 w 4206644"/>
                <a:gd name="connsiteY1" fmla="*/ 0 h 1895952"/>
                <a:gd name="connsiteX2" fmla="*/ 4206644 w 4206644"/>
                <a:gd name="connsiteY2" fmla="*/ 1895952 h 1895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6644" h="1895952">
                  <a:moveTo>
                    <a:pt x="0" y="0"/>
                  </a:moveTo>
                  <a:lnTo>
                    <a:pt x="4206644" y="0"/>
                  </a:lnTo>
                  <a:lnTo>
                    <a:pt x="4206644" y="1895952"/>
                  </a:lnTo>
                  <a:close/>
                </a:path>
              </a:pathLst>
            </a:custGeom>
            <a:solidFill>
              <a:schemeClr val="accent1">
                <a:alpha val="71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3544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1956131" y="2352597"/>
            <a:ext cx="4535055" cy="656792"/>
          </a:xfr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3D6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50358" y="3233648"/>
            <a:ext cx="4546600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D9E46DE-6A41-4299-8141-4029FA18B691}"/>
              </a:ext>
            </a:extLst>
          </p:cNvPr>
          <p:cNvGrpSpPr/>
          <p:nvPr userDrawn="1"/>
        </p:nvGrpSpPr>
        <p:grpSpPr>
          <a:xfrm flipV="1">
            <a:off x="8256760" y="-16020"/>
            <a:ext cx="3935241" cy="6874019"/>
            <a:chOff x="7778078" y="0"/>
            <a:chExt cx="4413923" cy="3499502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86A10BA9-BFFB-424A-BE2D-A51AA1A2D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78078" y="1"/>
              <a:ext cx="4413922" cy="3499501"/>
            </a:xfrm>
            <a:custGeom>
              <a:avLst/>
              <a:gdLst>
                <a:gd name="connsiteX0" fmla="*/ 0 w 4413922"/>
                <a:gd name="connsiteY0" fmla="*/ 0 h 3499501"/>
                <a:gd name="connsiteX1" fmla="*/ 4413922 w 4413922"/>
                <a:gd name="connsiteY1" fmla="*/ 0 h 3499501"/>
                <a:gd name="connsiteX2" fmla="*/ 4413922 w 4413922"/>
                <a:gd name="connsiteY2" fmla="*/ 3499501 h 34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13922" h="3499501">
                  <a:moveTo>
                    <a:pt x="0" y="0"/>
                  </a:moveTo>
                  <a:lnTo>
                    <a:pt x="4413922" y="0"/>
                  </a:lnTo>
                  <a:lnTo>
                    <a:pt x="4413922" y="349950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04B7348-CA69-4CED-8AEA-BAACC9EB65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21128" y="0"/>
              <a:ext cx="4370872" cy="2993432"/>
            </a:xfrm>
            <a:custGeom>
              <a:avLst/>
              <a:gdLst>
                <a:gd name="connsiteX0" fmla="*/ 0 w 4370872"/>
                <a:gd name="connsiteY0" fmla="*/ 0 h 2993432"/>
                <a:gd name="connsiteX1" fmla="*/ 4370872 w 4370872"/>
                <a:gd name="connsiteY1" fmla="*/ 0 h 2993432"/>
                <a:gd name="connsiteX2" fmla="*/ 4370872 w 4370872"/>
                <a:gd name="connsiteY2" fmla="*/ 2993432 h 299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0872" h="2993432">
                  <a:moveTo>
                    <a:pt x="0" y="0"/>
                  </a:moveTo>
                  <a:lnTo>
                    <a:pt x="4370872" y="0"/>
                  </a:lnTo>
                  <a:lnTo>
                    <a:pt x="4370872" y="2993432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F38E64D-D65C-4322-B74A-DB8F5650EA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89890" y="1"/>
              <a:ext cx="4302111" cy="2419939"/>
            </a:xfrm>
            <a:custGeom>
              <a:avLst/>
              <a:gdLst>
                <a:gd name="connsiteX0" fmla="*/ 0 w 4302111"/>
                <a:gd name="connsiteY0" fmla="*/ 0 h 2419939"/>
                <a:gd name="connsiteX1" fmla="*/ 4302111 w 4302111"/>
                <a:gd name="connsiteY1" fmla="*/ 0 h 2419939"/>
                <a:gd name="connsiteX2" fmla="*/ 4302111 w 4302111"/>
                <a:gd name="connsiteY2" fmla="*/ 2419939 h 241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2111" h="2419939">
                  <a:moveTo>
                    <a:pt x="0" y="0"/>
                  </a:moveTo>
                  <a:lnTo>
                    <a:pt x="4302111" y="0"/>
                  </a:lnTo>
                  <a:lnTo>
                    <a:pt x="4302111" y="241993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B72C440-E95D-49F0-9470-97CAD9E8AE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5356" y="0"/>
              <a:ext cx="4206644" cy="1895952"/>
            </a:xfrm>
            <a:custGeom>
              <a:avLst/>
              <a:gdLst>
                <a:gd name="connsiteX0" fmla="*/ 0 w 4206644"/>
                <a:gd name="connsiteY0" fmla="*/ 0 h 1895952"/>
                <a:gd name="connsiteX1" fmla="*/ 4206644 w 4206644"/>
                <a:gd name="connsiteY1" fmla="*/ 0 h 1895952"/>
                <a:gd name="connsiteX2" fmla="*/ 4206644 w 4206644"/>
                <a:gd name="connsiteY2" fmla="*/ 1895952 h 1895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6644" h="1895952">
                  <a:moveTo>
                    <a:pt x="0" y="0"/>
                  </a:moveTo>
                  <a:lnTo>
                    <a:pt x="4206644" y="0"/>
                  </a:lnTo>
                  <a:lnTo>
                    <a:pt x="4206644" y="1895952"/>
                  </a:lnTo>
                  <a:close/>
                </a:path>
              </a:pathLst>
            </a:custGeom>
            <a:solidFill>
              <a:schemeClr val="accent1">
                <a:alpha val="71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714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B497D7-02AD-43A9-B948-17D07F5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B2705-5296-4AF0-AF0B-2F604D34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DA161-68B0-40B8-8CF0-A82FC7A5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5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1C2B96-5634-4B88-8E94-AD21DFF4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F45EBE-7276-46DE-B4C4-5A99E717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861A43-C2C2-48CC-8D18-551AD0C4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7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61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99591" y="1502142"/>
            <a:ext cx="3985202" cy="865136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299591" y="2930176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99591" y="3245810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3BEFEB4-2C7C-48D0-9F96-75183D3ED3E7}"/>
              </a:ext>
            </a:extLst>
          </p:cNvPr>
          <p:cNvGrpSpPr/>
          <p:nvPr userDrawn="1"/>
        </p:nvGrpSpPr>
        <p:grpSpPr>
          <a:xfrm flipH="1">
            <a:off x="-1" y="0"/>
            <a:ext cx="3893927" cy="3087232"/>
            <a:chOff x="7778078" y="0"/>
            <a:chExt cx="4413923" cy="3499502"/>
          </a:xfrm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4CBDF918-E7F9-4244-82F6-7E2017481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78078" y="1"/>
              <a:ext cx="4413922" cy="3499501"/>
            </a:xfrm>
            <a:custGeom>
              <a:avLst/>
              <a:gdLst>
                <a:gd name="connsiteX0" fmla="*/ 0 w 4413922"/>
                <a:gd name="connsiteY0" fmla="*/ 0 h 3499501"/>
                <a:gd name="connsiteX1" fmla="*/ 4413922 w 4413922"/>
                <a:gd name="connsiteY1" fmla="*/ 0 h 3499501"/>
                <a:gd name="connsiteX2" fmla="*/ 4413922 w 4413922"/>
                <a:gd name="connsiteY2" fmla="*/ 3499501 h 34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13922" h="3499501">
                  <a:moveTo>
                    <a:pt x="0" y="0"/>
                  </a:moveTo>
                  <a:lnTo>
                    <a:pt x="4413922" y="0"/>
                  </a:lnTo>
                  <a:lnTo>
                    <a:pt x="4413922" y="349950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3B48366F-92CF-4BCF-A935-76F9623B15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21128" y="0"/>
              <a:ext cx="4370872" cy="2993432"/>
            </a:xfrm>
            <a:custGeom>
              <a:avLst/>
              <a:gdLst>
                <a:gd name="connsiteX0" fmla="*/ 0 w 4370872"/>
                <a:gd name="connsiteY0" fmla="*/ 0 h 2993432"/>
                <a:gd name="connsiteX1" fmla="*/ 4370872 w 4370872"/>
                <a:gd name="connsiteY1" fmla="*/ 0 h 2993432"/>
                <a:gd name="connsiteX2" fmla="*/ 4370872 w 4370872"/>
                <a:gd name="connsiteY2" fmla="*/ 2993432 h 299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0872" h="2993432">
                  <a:moveTo>
                    <a:pt x="0" y="0"/>
                  </a:moveTo>
                  <a:lnTo>
                    <a:pt x="4370872" y="0"/>
                  </a:lnTo>
                  <a:lnTo>
                    <a:pt x="4370872" y="2993432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C220813-393A-47BA-8C55-4ADAF60164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89890" y="1"/>
              <a:ext cx="4302111" cy="2419939"/>
            </a:xfrm>
            <a:custGeom>
              <a:avLst/>
              <a:gdLst>
                <a:gd name="connsiteX0" fmla="*/ 0 w 4302111"/>
                <a:gd name="connsiteY0" fmla="*/ 0 h 2419939"/>
                <a:gd name="connsiteX1" fmla="*/ 4302111 w 4302111"/>
                <a:gd name="connsiteY1" fmla="*/ 0 h 2419939"/>
                <a:gd name="connsiteX2" fmla="*/ 4302111 w 4302111"/>
                <a:gd name="connsiteY2" fmla="*/ 2419939 h 241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2111" h="2419939">
                  <a:moveTo>
                    <a:pt x="0" y="0"/>
                  </a:moveTo>
                  <a:lnTo>
                    <a:pt x="4302111" y="0"/>
                  </a:lnTo>
                  <a:lnTo>
                    <a:pt x="4302111" y="241993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898A955D-75FC-4514-86F9-BDAE27A10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5356" y="0"/>
              <a:ext cx="4206644" cy="1895952"/>
            </a:xfrm>
            <a:custGeom>
              <a:avLst/>
              <a:gdLst>
                <a:gd name="connsiteX0" fmla="*/ 0 w 4206644"/>
                <a:gd name="connsiteY0" fmla="*/ 0 h 1895952"/>
                <a:gd name="connsiteX1" fmla="*/ 4206644 w 4206644"/>
                <a:gd name="connsiteY1" fmla="*/ 0 h 1895952"/>
                <a:gd name="connsiteX2" fmla="*/ 4206644 w 4206644"/>
                <a:gd name="connsiteY2" fmla="*/ 1895952 h 1895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6644" h="1895952">
                  <a:moveTo>
                    <a:pt x="0" y="0"/>
                  </a:moveTo>
                  <a:lnTo>
                    <a:pt x="4206644" y="0"/>
                  </a:lnTo>
                  <a:lnTo>
                    <a:pt x="4206644" y="1895952"/>
                  </a:lnTo>
                  <a:close/>
                </a:path>
              </a:pathLst>
            </a:custGeom>
            <a:solidFill>
              <a:schemeClr val="accent1">
                <a:alpha val="71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8734980-73E0-48A2-B53C-72DE9BDED7A0}"/>
              </a:ext>
            </a:extLst>
          </p:cNvPr>
          <p:cNvGrpSpPr/>
          <p:nvPr userDrawn="1"/>
        </p:nvGrpSpPr>
        <p:grpSpPr>
          <a:xfrm flipH="1">
            <a:off x="-12089" y="4291344"/>
            <a:ext cx="12204089" cy="2566658"/>
            <a:chOff x="-12088" y="4794394"/>
            <a:chExt cx="12204089" cy="2063607"/>
          </a:xfrm>
        </p:grpSpPr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18134D36-334C-4854-8D96-EC6648661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4582" y="4942832"/>
              <a:ext cx="11637418" cy="1915168"/>
            </a:xfrm>
            <a:custGeom>
              <a:avLst/>
              <a:gdLst>
                <a:gd name="connsiteX0" fmla="*/ 8612903 w 11637418"/>
                <a:gd name="connsiteY0" fmla="*/ 0 h 1915168"/>
                <a:gd name="connsiteX1" fmla="*/ 11637418 w 11637418"/>
                <a:gd name="connsiteY1" fmla="*/ 1581105 h 1915168"/>
                <a:gd name="connsiteX2" fmla="*/ 11637418 w 11637418"/>
                <a:gd name="connsiteY2" fmla="*/ 1915168 h 1915168"/>
                <a:gd name="connsiteX3" fmla="*/ 0 w 11637418"/>
                <a:gd name="connsiteY3" fmla="*/ 1915168 h 191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37418" h="1915168">
                  <a:moveTo>
                    <a:pt x="8612903" y="0"/>
                  </a:moveTo>
                  <a:lnTo>
                    <a:pt x="11637418" y="1581105"/>
                  </a:lnTo>
                  <a:lnTo>
                    <a:pt x="11637418" y="1915168"/>
                  </a:lnTo>
                  <a:lnTo>
                    <a:pt x="0" y="1915168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6A7AE61-9924-408E-8CF1-09F7814EF8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96" y="4794394"/>
              <a:ext cx="11856904" cy="2063607"/>
            </a:xfrm>
            <a:custGeom>
              <a:avLst/>
              <a:gdLst>
                <a:gd name="connsiteX0" fmla="*/ 7128328 w 11856904"/>
                <a:gd name="connsiteY0" fmla="*/ 0 h 2063607"/>
                <a:gd name="connsiteX1" fmla="*/ 11856904 w 11856904"/>
                <a:gd name="connsiteY1" fmla="*/ 1832069 h 2063607"/>
                <a:gd name="connsiteX2" fmla="*/ 11856904 w 11856904"/>
                <a:gd name="connsiteY2" fmla="*/ 2063607 h 2063607"/>
                <a:gd name="connsiteX3" fmla="*/ 0 w 11856904"/>
                <a:gd name="connsiteY3" fmla="*/ 2063607 h 206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6904" h="2063607">
                  <a:moveTo>
                    <a:pt x="7128328" y="0"/>
                  </a:moveTo>
                  <a:lnTo>
                    <a:pt x="11856904" y="1832069"/>
                  </a:lnTo>
                  <a:lnTo>
                    <a:pt x="11856904" y="2063607"/>
                  </a:lnTo>
                  <a:lnTo>
                    <a:pt x="0" y="2063607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E374545-05CE-40DB-AFDC-FA4A8E6235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20" y="4847832"/>
              <a:ext cx="12052680" cy="2010168"/>
            </a:xfrm>
            <a:custGeom>
              <a:avLst/>
              <a:gdLst>
                <a:gd name="connsiteX0" fmla="*/ 5073792 w 12052680"/>
                <a:gd name="connsiteY0" fmla="*/ 0 h 2010168"/>
                <a:gd name="connsiteX1" fmla="*/ 12052680 w 12052680"/>
                <a:gd name="connsiteY1" fmla="*/ 1869250 h 2010168"/>
                <a:gd name="connsiteX2" fmla="*/ 12052680 w 12052680"/>
                <a:gd name="connsiteY2" fmla="*/ 2010168 h 2010168"/>
                <a:gd name="connsiteX3" fmla="*/ 0 w 12052680"/>
                <a:gd name="connsiteY3" fmla="*/ 2010168 h 201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2680" h="2010168">
                  <a:moveTo>
                    <a:pt x="5073792" y="0"/>
                  </a:moveTo>
                  <a:lnTo>
                    <a:pt x="12052680" y="1869250"/>
                  </a:lnTo>
                  <a:lnTo>
                    <a:pt x="12052680" y="2010168"/>
                  </a:lnTo>
                  <a:lnTo>
                    <a:pt x="0" y="20101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7FE0E06-350E-4668-A7B0-18779AF86C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2088" y="5275332"/>
              <a:ext cx="12204089" cy="1582668"/>
            </a:xfrm>
            <a:custGeom>
              <a:avLst/>
              <a:gdLst>
                <a:gd name="connsiteX0" fmla="*/ 2856139 w 12204089"/>
                <a:gd name="connsiteY0" fmla="*/ 0 h 1582668"/>
                <a:gd name="connsiteX1" fmla="*/ 12204089 w 12204089"/>
                <a:gd name="connsiteY1" fmla="*/ 1521377 h 1582668"/>
                <a:gd name="connsiteX2" fmla="*/ 12204089 w 12204089"/>
                <a:gd name="connsiteY2" fmla="*/ 1582668 h 1582668"/>
                <a:gd name="connsiteX3" fmla="*/ 0 w 12204089"/>
                <a:gd name="connsiteY3" fmla="*/ 1582668 h 1582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4089" h="1582668">
                  <a:moveTo>
                    <a:pt x="2856139" y="0"/>
                  </a:moveTo>
                  <a:lnTo>
                    <a:pt x="12204089" y="1521377"/>
                  </a:lnTo>
                  <a:lnTo>
                    <a:pt x="12204089" y="1582668"/>
                  </a:lnTo>
                  <a:lnTo>
                    <a:pt x="0" y="1582668"/>
                  </a:lnTo>
                  <a:close/>
                </a:path>
              </a:pathLst>
            </a:custGeom>
            <a:solidFill>
              <a:schemeClr val="accent1">
                <a:alpha val="71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08465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关注服务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BB9638-2D2F-48B1-A8CF-673B237DCC1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0C7C91-35F0-46E5-B511-2314CED2655F}"/>
              </a:ext>
            </a:extLst>
          </p:cNvPr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包含 纵横字谜, 文字&#10;&#10;已生成极高可信度的说明">
            <a:extLst>
              <a:ext uri="{FF2B5EF4-FFF2-40B4-BE49-F238E27FC236}">
                <a16:creationId xmlns:a16="http://schemas.microsoft.com/office/drawing/2014/main" id="{25779B21-3BC1-4E47-8650-6B0E785B5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3024A3-25F7-4B9A-9876-36F35421F6E6}"/>
              </a:ext>
            </a:extLst>
          </p:cNvPr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lang="en-US" altLang="zh-CN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  <a:extLst>
              <a:ext uri="{FF2B5EF4-FFF2-40B4-BE49-F238E27FC236}">
                <a16:creationId xmlns:a16="http://schemas.microsoft.com/office/drawing/2014/main" id="{5524D02C-49CE-4D3D-8B89-07CEC3966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5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使用小程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71CC84-193F-4D28-98D9-17F9952F968C}"/>
              </a:ext>
            </a:extLst>
          </p:cNvPr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3A9F197-1133-4CEE-860F-85366976D0AC}"/>
              </a:ext>
            </a:extLst>
          </p:cNvPr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954438-2CEB-4119-883B-8B9196F98504}"/>
              </a:ext>
            </a:extLst>
          </p:cNvPr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D1A364-B227-4CFB-9287-6198C6C0443B}"/>
              </a:ext>
            </a:extLst>
          </p:cNvPr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A6AD26-5781-4DAD-8C16-8C73B2C177AD}"/>
              </a:ext>
            </a:extLst>
          </p:cNvPr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ker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lang="en-US" sz="32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806FD0-33B9-40F1-B8F9-079524CA002C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59FFD7E-3944-43A3-A5DD-D8673483D04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76706F4-B20C-489C-ACB9-010EF43FEF70}"/>
              </a:ext>
            </a:extLst>
          </p:cNvPr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0F7A0F-4C8A-4DA1-8AA3-1810FF4E70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924" t="13924" r="13924" b="13924"/>
          <a:stretch/>
        </p:blipFill>
        <p:spPr>
          <a:xfrm>
            <a:off x="4705130" y="1673081"/>
            <a:ext cx="2743200" cy="2743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60AD2DE-F13F-4332-90AE-87C7001EA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439" r="14439"/>
          <a:stretch/>
        </p:blipFill>
        <p:spPr>
          <a:xfrm>
            <a:off x="8519321" y="1673081"/>
            <a:ext cx="2743200" cy="2743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418449-E7C2-4E37-8045-DD4782B125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965" y="1673081"/>
            <a:ext cx="2743200" cy="27432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A11A6D6-1DBD-4A10-8942-D3DDC4E182E9}"/>
              </a:ext>
            </a:extLst>
          </p:cNvPr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lang="en-US" altLang="zh-CN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74E825-3465-469E-BD06-097F250CA889}"/>
              </a:ext>
            </a:extLst>
          </p:cNvPr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C4AC92-2800-4841-84A3-26E495F2D178}"/>
              </a:ext>
            </a:extLst>
          </p:cNvPr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微软小蜜 」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D082CA-914B-42B8-A86E-16893B7234C9}"/>
              </a:ext>
            </a:extLst>
          </p:cNvPr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21E3BB-42AC-4DCD-9031-7215136A1844}"/>
              </a:ext>
            </a:extLst>
          </p:cNvPr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5"/>
            <a:extLst>
              <a:ext uri="{FF2B5EF4-FFF2-40B4-BE49-F238E27FC236}">
                <a16:creationId xmlns:a16="http://schemas.microsoft.com/office/drawing/2014/main" id="{46C855E7-2DCA-4970-A954-7CB7F69FADA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4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13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屏幕截图&#10;&#10;已生成极高可信度的说明">
            <a:extLst>
              <a:ext uri="{FF2B5EF4-FFF2-40B4-BE49-F238E27FC236}">
                <a16:creationId xmlns:a16="http://schemas.microsoft.com/office/drawing/2014/main" id="{7CCD29A7-3309-4DEC-B70C-522A2F999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9732AF9-1CCC-4AE1-A6A7-046699E3E0F1}"/>
              </a:ext>
            </a:extLst>
          </p:cNvPr>
          <p:cNvGrpSpPr/>
          <p:nvPr/>
        </p:nvGrpSpPr>
        <p:grpSpPr>
          <a:xfrm>
            <a:off x="2688771" y="3219121"/>
            <a:ext cx="6814457" cy="419757"/>
            <a:chOff x="2690949" y="3219121"/>
            <a:chExt cx="6814457" cy="41975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3126653-3A00-47CE-AF78-D44043180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7883" y="3219121"/>
              <a:ext cx="420589" cy="419757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47F7153-BD60-4D97-A7B9-190C962B1772}"/>
                </a:ext>
              </a:extLst>
            </p:cNvPr>
            <p:cNvCxnSpPr>
              <a:cxnSpLocks/>
            </p:cNvCxnSpPr>
            <p:nvPr/>
          </p:nvCxnSpPr>
          <p:spPr>
            <a:xfrm>
              <a:off x="2690949" y="3428999"/>
              <a:ext cx="308283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916010B-9EDD-41EF-835F-F4AAC01B5AFF}"/>
                </a:ext>
              </a:extLst>
            </p:cNvPr>
            <p:cNvCxnSpPr>
              <a:cxnSpLocks/>
            </p:cNvCxnSpPr>
            <p:nvPr/>
          </p:nvCxnSpPr>
          <p:spPr>
            <a:xfrm>
              <a:off x="6422572" y="3428999"/>
              <a:ext cx="308283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E41C179-FC1E-4A8F-A8E6-122EA091CB27}"/>
              </a:ext>
            </a:extLst>
          </p:cNvPr>
          <p:cNvSpPr txBox="1"/>
          <p:nvPr/>
        </p:nvSpPr>
        <p:spPr>
          <a:xfrm>
            <a:off x="1730533" y="2395834"/>
            <a:ext cx="8952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spc="600" dirty="0">
                <a:solidFill>
                  <a:schemeClr val="bg1"/>
                </a:solidFill>
                <a:latin typeface="+mj-ea"/>
                <a:ea typeface="+mj-ea"/>
              </a:rPr>
              <a:t>LASSO</a:t>
            </a:r>
            <a:r>
              <a:rPr lang="zh-CN" altLang="en-US" sz="5400" spc="600" dirty="0">
                <a:solidFill>
                  <a:schemeClr val="bg1"/>
                </a:solidFill>
                <a:latin typeface="+mj-ea"/>
                <a:ea typeface="+mj-ea"/>
              </a:rPr>
              <a:t>回归优化算法对比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E034BB-BB3E-8664-9E69-CA5933FF72A7}"/>
              </a:ext>
            </a:extLst>
          </p:cNvPr>
          <p:cNvSpPr txBox="1"/>
          <p:nvPr/>
        </p:nvSpPr>
        <p:spPr>
          <a:xfrm>
            <a:off x="3043238" y="4000500"/>
            <a:ext cx="588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</a:rPr>
              <a:t>组员：杨晨 朱建军 侯名扬 马辰昊 檀宗晗 李佳航</a:t>
            </a:r>
          </a:p>
        </p:txBody>
      </p:sp>
    </p:spTree>
    <p:extLst>
      <p:ext uri="{BB962C8B-B14F-4D97-AF65-F5344CB8AC3E}">
        <p14:creationId xmlns:p14="http://schemas.microsoft.com/office/powerpoint/2010/main" val="48576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D10F98CC-A913-43A8-AFE3-9135929215CD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2682383-8B12-4D61-9EA0-778633B9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21F3A0F9-4FD0-4A71-A737-B90770FEF9CB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问题建模与算法选择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7FF4A83-78E0-7BD1-1E1D-C21B10FFC923}"/>
                  </a:ext>
                </a:extLst>
              </p:cNvPr>
              <p:cNvSpPr txBox="1"/>
              <p:nvPr/>
            </p:nvSpPr>
            <p:spPr>
              <a:xfrm>
                <a:off x="1242203" y="1621766"/>
                <a:ext cx="10516409" cy="116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LASSO</a:t>
                </a:r>
                <a:r>
                  <a:rPr lang="zh-CN" altLang="en-US" dirty="0"/>
                  <a:t>的目标函数为：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/>
                      </m:func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𝑋𝑤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其中，第一项是平方损失，用于拟合数据；第二项是</a:t>
                </a:r>
                <a:r>
                  <a:rPr lang="en-US" altLang="zh-CN" dirty="0"/>
                  <a:t>L1</a:t>
                </a:r>
                <a:r>
                  <a:rPr lang="zh-CN" altLang="en-US" dirty="0"/>
                  <a:t>正则，用于压缩系数并产生稀疏解。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7FF4A83-78E0-7BD1-1E1D-C21B10FFC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203" y="1621766"/>
                <a:ext cx="10516409" cy="1166730"/>
              </a:xfrm>
              <a:prstGeom prst="rect">
                <a:avLst/>
              </a:prstGeom>
              <a:blipFill>
                <a:blip r:embed="rId3"/>
                <a:stretch>
                  <a:fillRect l="-522" t="-2618" b="-7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CE1FC08-2BA8-A720-DBB3-95B33882C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676104"/>
                  </p:ext>
                </p:extLst>
              </p:nvPr>
            </p:nvGraphicFramePr>
            <p:xfrm>
              <a:off x="1242203" y="3812617"/>
              <a:ext cx="10387821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62607">
                      <a:extLst>
                        <a:ext uri="{9D8B030D-6E8A-4147-A177-3AD203B41FA5}">
                          <a16:colId xmlns:a16="http://schemas.microsoft.com/office/drawing/2014/main" val="2431291116"/>
                        </a:ext>
                      </a:extLst>
                    </a:gridCol>
                    <a:gridCol w="3462607">
                      <a:extLst>
                        <a:ext uri="{9D8B030D-6E8A-4147-A177-3AD203B41FA5}">
                          <a16:colId xmlns:a16="http://schemas.microsoft.com/office/drawing/2014/main" val="1969742546"/>
                        </a:ext>
                      </a:extLst>
                    </a:gridCol>
                    <a:gridCol w="3462607">
                      <a:extLst>
                        <a:ext uri="{9D8B030D-6E8A-4147-A177-3AD203B41FA5}">
                          <a16:colId xmlns:a16="http://schemas.microsoft.com/office/drawing/2014/main" val="26615956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算法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核心思想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理论收敛率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87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Proximal Gradient</a:t>
                          </a:r>
                          <a:r>
                            <a:rPr lang="zh-CN" altLang="en-US" dirty="0"/>
                            <a:t>（</a:t>
                          </a:r>
                          <a:r>
                            <a:rPr lang="en-US" altLang="zh-CN" dirty="0"/>
                            <a:t>ISTA</a:t>
                          </a:r>
                          <a:r>
                            <a:rPr lang="zh-CN" altLang="en-US" dirty="0"/>
                            <a:t>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复合结构分解的直接实现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zh-CN" altLang="en-US" sz="1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zh-CN" altLang="en-US" sz="1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/</m:t>
                                    </m:r>
                                    <m:r>
                                      <a:rPr lang="zh-CN" altLang="en-US" sz="1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zh-CN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978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Nesterov Accelerated Gradient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在</a:t>
                          </a:r>
                          <a:r>
                            <a:rPr lang="en-US" altLang="zh-CN" dirty="0"/>
                            <a:t>ISTA</a:t>
                          </a:r>
                          <a:r>
                            <a:rPr lang="zh-CN" altLang="en-US" dirty="0"/>
                            <a:t>基础上引入动量外推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6230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Coordinate Descent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逐坐标精确求解子问题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无统一保证，实践极快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0234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CE1FC08-2BA8-A720-DBB3-95B33882C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676104"/>
                  </p:ext>
                </p:extLst>
              </p:nvPr>
            </p:nvGraphicFramePr>
            <p:xfrm>
              <a:off x="1242203" y="3812617"/>
              <a:ext cx="10387821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62607">
                      <a:extLst>
                        <a:ext uri="{9D8B030D-6E8A-4147-A177-3AD203B41FA5}">
                          <a16:colId xmlns:a16="http://schemas.microsoft.com/office/drawing/2014/main" val="2431291116"/>
                        </a:ext>
                      </a:extLst>
                    </a:gridCol>
                    <a:gridCol w="3462607">
                      <a:extLst>
                        <a:ext uri="{9D8B030D-6E8A-4147-A177-3AD203B41FA5}">
                          <a16:colId xmlns:a16="http://schemas.microsoft.com/office/drawing/2014/main" val="1969742546"/>
                        </a:ext>
                      </a:extLst>
                    </a:gridCol>
                    <a:gridCol w="3462607">
                      <a:extLst>
                        <a:ext uri="{9D8B030D-6E8A-4147-A177-3AD203B41FA5}">
                          <a16:colId xmlns:a16="http://schemas.microsoft.com/office/drawing/2014/main" val="26615956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算法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核心思想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理论收敛率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87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Proximal Gradient</a:t>
                          </a:r>
                          <a:r>
                            <a:rPr lang="zh-CN" altLang="en-US" dirty="0"/>
                            <a:t>（</a:t>
                          </a:r>
                          <a:r>
                            <a:rPr lang="en-US" altLang="zh-CN" dirty="0"/>
                            <a:t>ISTA</a:t>
                          </a:r>
                          <a:r>
                            <a:rPr lang="zh-CN" altLang="en-US" dirty="0"/>
                            <a:t>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复合结构分解的直接实现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352" t="-108197" r="-70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978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Nesterov Accelerated Gradient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在</a:t>
                          </a:r>
                          <a:r>
                            <a:rPr lang="en-US" altLang="zh-CN" dirty="0"/>
                            <a:t>ISTA</a:t>
                          </a:r>
                          <a:r>
                            <a:rPr lang="zh-CN" altLang="en-US" dirty="0"/>
                            <a:t>基础上引入动量外推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352" t="-208197" r="-70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6230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Coordinate Descent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逐坐标精确求解子问题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无统一保证，实践极快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0234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4A698D8-A758-CA0C-7D7A-0D80CA0195C8}"/>
              </a:ext>
            </a:extLst>
          </p:cNvPr>
          <p:cNvSpPr txBox="1"/>
          <p:nvPr/>
        </p:nvSpPr>
        <p:spPr>
          <a:xfrm>
            <a:off x="1211053" y="3295291"/>
            <a:ext cx="839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算法选择：</a:t>
            </a:r>
          </a:p>
        </p:txBody>
      </p:sp>
    </p:spTree>
    <p:extLst>
      <p:ext uri="{BB962C8B-B14F-4D97-AF65-F5344CB8AC3E}">
        <p14:creationId xmlns:p14="http://schemas.microsoft.com/office/powerpoint/2010/main" val="27622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7DED-A22A-1C28-9592-88FEF6A6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02B7FF5-D8A2-BEDE-8BF5-868C725C5A45}"/>
              </a:ext>
            </a:extLst>
          </p:cNvPr>
          <p:cNvSpPr/>
          <p:nvPr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05D3726-4EFF-67A4-504D-095584C46B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7" y="804233"/>
            <a:ext cx="10368945" cy="6047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E732B2F-F987-F3EF-3A44-5AB4768ABFD8}"/>
              </a:ext>
            </a:extLst>
          </p:cNvPr>
          <p:cNvSpPr/>
          <p:nvPr/>
        </p:nvSpPr>
        <p:spPr>
          <a:xfrm>
            <a:off x="3334871" y="653140"/>
            <a:ext cx="8857128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75ADE83-E3B0-0D3F-ECC7-EC100A10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4CA7A1D-7F04-CFEC-9D74-8CABD6CC026C}"/>
              </a:ext>
            </a:extLst>
          </p:cNvPr>
          <p:cNvSpPr txBox="1"/>
          <p:nvPr/>
        </p:nvSpPr>
        <p:spPr>
          <a:xfrm>
            <a:off x="1665940" y="3006756"/>
            <a:ext cx="886011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Proximal Gradient</a:t>
            </a:r>
            <a:endParaRPr lang="zh-CN" altLang="en-US" sz="6600" b="1" spc="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9B1C3F6-BAE1-10BA-0648-B103B46C0405}"/>
              </a:ext>
            </a:extLst>
          </p:cNvPr>
          <p:cNvCxnSpPr>
            <a:cxnSpLocks/>
          </p:cNvCxnSpPr>
          <p:nvPr/>
        </p:nvCxnSpPr>
        <p:spPr>
          <a:xfrm>
            <a:off x="3931956" y="4265269"/>
            <a:ext cx="4328086" cy="0"/>
          </a:xfrm>
          <a:prstGeom prst="line">
            <a:avLst/>
          </a:prstGeom>
          <a:ln w="38100">
            <a:solidFill>
              <a:srgbClr val="0E4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12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2F97-8007-8CD7-93D2-F3E295EA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185C2008-56FC-C735-F03D-18EECD8F957F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108A323-AB09-BC54-2112-0E40B68A3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4E0031E4-7357-3C0B-0D46-C56072F24B9F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5C080B-6791-68FA-6600-D2E7154D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Proximal Gradient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A864707-61CA-55E2-C2C9-AB1994BFBCEF}"/>
                  </a:ext>
                </a:extLst>
              </p:cNvPr>
              <p:cNvSpPr txBox="1"/>
              <p:nvPr/>
            </p:nvSpPr>
            <p:spPr>
              <a:xfrm>
                <a:off x="909128" y="1543334"/>
                <a:ext cx="10331091" cy="4180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Proximal Gradient</a:t>
                </a:r>
                <a:r>
                  <a:rPr lang="zh-CN" altLang="en-US" dirty="0"/>
                  <a:t>的核心是把目标函数拆成光滑项和不光滑项：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𝑋𝑤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平方损失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可导，其梯度为：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𝑋𝑤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L1 </a:t>
                </a:r>
                <a:r>
                  <a:rPr lang="zh-CN" altLang="en-US" dirty="0"/>
                  <a:t>正则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在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点不可导，因此不直接使用普通梯度下降处理整个目标函数，而是对不光滑项使用近端算子。每次迭代包含两步。第一步，对光滑项做梯度更新：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zh-CN" altLang="en-US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第二步，对 </a:t>
                </a:r>
                <a:r>
                  <a:rPr lang="en-US" altLang="zh-CN" dirty="0"/>
                  <a:t>L1 </a:t>
                </a:r>
                <a:r>
                  <a:rPr lang="zh-CN" altLang="en-US" dirty="0"/>
                  <a:t>正则做近端更新：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是 </a:t>
                </a:r>
                <a:r>
                  <a:rPr lang="en-US" altLang="zh-CN" dirty="0"/>
                  <a:t>soft-thresholding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sign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soft-thresholding </a:t>
                </a:r>
                <a:r>
                  <a:rPr lang="zh-CN" altLang="en-US" dirty="0"/>
                  <a:t>会把绝对值较小的系数直接压到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，把较大的系数向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收缩，因此能够体现 </a:t>
                </a:r>
                <a:r>
                  <a:rPr lang="en-US" altLang="zh-CN" dirty="0"/>
                  <a:t>LASSO </a:t>
                </a:r>
                <a:r>
                  <a:rPr lang="zh-CN" altLang="en-US" dirty="0"/>
                  <a:t>的稀疏化作用。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A864707-61CA-55E2-C2C9-AB1994BFB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8" y="1543334"/>
                <a:ext cx="10331091" cy="4180119"/>
              </a:xfrm>
              <a:prstGeom prst="rect">
                <a:avLst/>
              </a:prstGeom>
              <a:blipFill>
                <a:blip r:embed="rId3"/>
                <a:stretch>
                  <a:fillRect l="-472" t="-729" r="-767" b="-1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78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AFE1-3999-C2EB-2CEB-A8DF5B3B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EBAB823D-1E2C-8517-3BBA-351FD1DDB6F9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031FEB2-4739-2771-4E88-E2311E823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DE525CF4-9626-C977-0972-CA9517DE9583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605201E-8AE0-E57E-9B16-4956C65A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Proximal Gradient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D6348E-641A-D267-C0BF-C856670B0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831" y="4043804"/>
            <a:ext cx="4700385" cy="23501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795B9C-3ECC-60DC-4CAE-92FB43A7C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77" y="1128414"/>
            <a:ext cx="4664625" cy="29153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5599AC-1C6C-B7BA-454C-269110C369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72" y="1128414"/>
            <a:ext cx="4700384" cy="29377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DA73713-84B0-3F48-1331-FAB4C7698BB2}"/>
              </a:ext>
            </a:extLst>
          </p:cNvPr>
          <p:cNvSpPr txBox="1"/>
          <p:nvPr/>
        </p:nvSpPr>
        <p:spPr>
          <a:xfrm>
            <a:off x="6864459" y="4066153"/>
            <a:ext cx="45827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收敛曲线显示，目标函数差距随着迭代次数增加持续下降，说明 </a:t>
            </a:r>
            <a:r>
              <a:rPr lang="en-US" altLang="zh-CN" sz="1400" dirty="0"/>
              <a:t>Proximal Gradient </a:t>
            </a:r>
            <a:r>
              <a:rPr lang="zh-CN" altLang="en-US" sz="1400" dirty="0"/>
              <a:t>能稳定优化 </a:t>
            </a:r>
            <a:r>
              <a:rPr lang="en-US" altLang="zh-CN" sz="1400" dirty="0"/>
              <a:t>LASSO </a:t>
            </a:r>
            <a:r>
              <a:rPr lang="zh-CN" altLang="en-US" sz="1400" dirty="0"/>
              <a:t>目标。目标函数值变化图显示，前几次迭代下降较快，随后逐渐趋于稳定，符合一阶优化方法的典型收敛特征。系数恢复图显示，大部分无关特征被压到 </a:t>
            </a:r>
            <a:r>
              <a:rPr lang="en-US" altLang="zh-CN" sz="1400" dirty="0"/>
              <a:t>0</a:t>
            </a:r>
            <a:r>
              <a:rPr lang="zh-CN" altLang="en-US" sz="1400" dirty="0"/>
              <a:t>，少数重要特征被保留下来，体现了 </a:t>
            </a:r>
            <a:r>
              <a:rPr lang="en-US" altLang="zh-CN" sz="1400" dirty="0"/>
              <a:t>L1 </a:t>
            </a:r>
            <a:r>
              <a:rPr lang="zh-CN" altLang="en-US" sz="1400" dirty="0"/>
              <a:t>正则的稀疏化作用。该方法结构清晰、实现简单，能够直观展示“光滑项用梯度步，不光滑项用近端步”的优化思想。普通 </a:t>
            </a:r>
            <a:r>
              <a:rPr lang="en-US" altLang="zh-CN" sz="1400" dirty="0"/>
              <a:t>ISTA </a:t>
            </a:r>
            <a:r>
              <a:rPr lang="zh-CN" altLang="en-US" sz="1400" dirty="0"/>
              <a:t>的理论收敛速度通常不是最快，但在本实验中已经能够稳定得到有效的稀疏解。</a:t>
            </a:r>
          </a:p>
        </p:txBody>
      </p:sp>
    </p:spTree>
    <p:extLst>
      <p:ext uri="{BB962C8B-B14F-4D97-AF65-F5344CB8AC3E}">
        <p14:creationId xmlns:p14="http://schemas.microsoft.com/office/powerpoint/2010/main" val="165820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AE69-8702-6FF3-D753-91083755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A965EB5-F6BF-2C9B-BDEC-086B4A364BDD}"/>
              </a:ext>
            </a:extLst>
          </p:cNvPr>
          <p:cNvSpPr/>
          <p:nvPr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BEC3F1C-1AC5-D1E5-38DB-8C9FE6ECB3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7" y="804233"/>
            <a:ext cx="10368945" cy="6047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85E4E9C-2777-4D40-93F2-299D858A7745}"/>
              </a:ext>
            </a:extLst>
          </p:cNvPr>
          <p:cNvSpPr/>
          <p:nvPr/>
        </p:nvSpPr>
        <p:spPr>
          <a:xfrm>
            <a:off x="3334871" y="653140"/>
            <a:ext cx="8857128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63CE783-EDD8-8BF0-1B77-29D04ACBB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C0754AD-3068-057C-2A17-1CA06215D28C}"/>
              </a:ext>
            </a:extLst>
          </p:cNvPr>
          <p:cNvSpPr txBox="1"/>
          <p:nvPr/>
        </p:nvSpPr>
        <p:spPr>
          <a:xfrm>
            <a:off x="1098477" y="3006756"/>
            <a:ext cx="99950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NAG/FISTA</a:t>
            </a:r>
            <a:endParaRPr lang="zh-CN" altLang="en-US" sz="6600" b="1" spc="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09D27B8-C1F0-FD23-4C73-D020B5044D57}"/>
              </a:ext>
            </a:extLst>
          </p:cNvPr>
          <p:cNvCxnSpPr>
            <a:cxnSpLocks/>
          </p:cNvCxnSpPr>
          <p:nvPr/>
        </p:nvCxnSpPr>
        <p:spPr>
          <a:xfrm>
            <a:off x="3931956" y="4265269"/>
            <a:ext cx="4328086" cy="0"/>
          </a:xfrm>
          <a:prstGeom prst="line">
            <a:avLst/>
          </a:prstGeom>
          <a:ln w="38100">
            <a:solidFill>
              <a:srgbClr val="0E4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58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9C55-E903-17C2-07CA-3C8FE899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30C3BA31-966A-C24D-F5F4-B4C91165B3EC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7F5F191-703F-F6F2-0837-83E1DD7F2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024F6962-D8AB-5580-2843-447732410FC3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DB7AFD-CFA6-9D08-BA63-1E2E3E79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F773A0A-1C34-8FEB-6761-2CB49666DE5B}"/>
                  </a:ext>
                </a:extLst>
              </p:cNvPr>
              <p:cNvSpPr txBox="1"/>
              <p:nvPr/>
            </p:nvSpPr>
            <p:spPr>
              <a:xfrm>
                <a:off x="929659" y="1379432"/>
                <a:ext cx="10331091" cy="5313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目标函数天然拆分为光滑部分与不光滑部分：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r>
                  <a:rPr lang="zh-CN" altLang="en-US" dirty="0"/>
                  <a:t>其中：光滑部分：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  <a:p>
                <a:r>
                  <a:rPr lang="zh-CN" altLang="en-US" dirty="0"/>
                  <a:t>其梯度为：</a:t>
                </a:r>
                <a:endParaRPr lang="zh-CN" altLang="en-US" i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r>
                  <a:rPr lang="zh-CN" altLang="en-US" dirty="0"/>
                  <a:t>不光滑部分（有近似点算子）：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正则项的近似点算子（软阈值函数）有解析解：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prox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0" smtClean="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  <a:p>
                <a:r>
                  <a:rPr lang="zh-CN" altLang="en-US" dirty="0"/>
                  <a:t>这是整个求解框架的核心工具</a:t>
                </a:r>
                <a:r>
                  <a:rPr lang="en-US" altLang="zh-CN" dirty="0"/>
                  <a:t>——</a:t>
                </a:r>
                <a:r>
                  <a:rPr lang="zh-CN" altLang="en-US" dirty="0"/>
                  <a:t>把不可微的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项“吸收”进一个可直接执行的算子里。近似点梯度法（</a:t>
                </a:r>
                <a:r>
                  <a:rPr lang="en-US" altLang="zh-CN" dirty="0"/>
                  <a:t>ISTA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Lasso </a:t>
                </a:r>
                <a:r>
                  <a:rPr lang="zh-CN" altLang="en-US" dirty="0"/>
                  <a:t>不能直接用梯度下降（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在零点不可微），但复合结构允许拆开处理：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zh-CN" altLang="en-US" i="0" smtClean="0">
                                  <a:latin typeface="Cambria Math" panose="02040503050406030204" pitchFamily="18" charset="0"/>
                                </a:rPr>
                                <m:t>prox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lit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altLang="en-US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soft</m:t>
                          </m:r>
                          <m:r>
                            <m:rPr>
                              <m:lit/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threshold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𝐿𝑛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F773A0A-1C34-8FEB-6761-2CB49666D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59" y="1379432"/>
                <a:ext cx="10331091" cy="5313314"/>
              </a:xfrm>
              <a:prstGeom prst="rect">
                <a:avLst/>
              </a:prstGeom>
              <a:blipFill>
                <a:blip r:embed="rId3"/>
                <a:stretch>
                  <a:fillRect l="-531" t="-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84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3C75-3A93-7914-416B-42F6528D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175BCF91-6414-93EF-14EC-0190EA54EC1B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A9C85D-B42D-8824-CA8D-267EF20E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37D96F0D-B8DC-5384-E2B1-4BAD8DDC358D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06B8AA-C549-F4E5-6B70-A4B61760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968903E-FCEE-5499-5BAF-C8D0D8275AD9}"/>
                  </a:ext>
                </a:extLst>
              </p:cNvPr>
              <p:cNvSpPr txBox="1"/>
              <p:nvPr/>
            </p:nvSpPr>
            <p:spPr>
              <a:xfrm>
                <a:off x="929659" y="1379432"/>
                <a:ext cx="10331091" cy="5076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步长为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zh-CN" dirty="0"/>
                  <a:t>，其中梯度的 </a:t>
                </a:r>
                <a:r>
                  <a:rPr lang="en-US" altLang="zh-CN" dirty="0"/>
                  <a:t>Lipschitz </a:t>
                </a:r>
                <a:r>
                  <a:rPr lang="zh-CN" altLang="zh-CN" dirty="0"/>
                  <a:t>常数为：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r>
                  <a:rPr lang="zh-CN" altLang="zh-CN" dirty="0"/>
                  <a:t>这能保证每步目标函数不上升。其收敛率为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Nesterov </a:t>
                </a:r>
                <a:r>
                  <a:rPr lang="zh-CN" altLang="zh-CN" dirty="0"/>
                  <a:t>加速梯度法（</a:t>
                </a:r>
                <a:r>
                  <a:rPr lang="en-US" altLang="zh-CN" dirty="0"/>
                  <a:t>FISTA</a:t>
                </a:r>
                <a:r>
                  <a:rPr lang="zh-CN" altLang="zh-CN" dirty="0"/>
                  <a:t>）核心改动：不在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处算梯度，而在一个外推点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处算。完整迭代格式分为 </a:t>
                </a:r>
                <a:r>
                  <a:rPr lang="en-US" altLang="zh-CN" dirty="0"/>
                  <a:t>4 </a:t>
                </a:r>
                <a:r>
                  <a:rPr lang="zh-CN" altLang="zh-CN" dirty="0"/>
                  <a:t>步：</a:t>
                </a:r>
                <a:endParaRPr lang="en-US" altLang="zh-CN" dirty="0"/>
              </a:p>
              <a:p>
                <a:r>
                  <a:rPr lang="en-US" altLang="zh-CN" dirty="0"/>
                  <a:t>Step 1 </a:t>
                </a:r>
                <a:r>
                  <a:rPr lang="zh-CN" altLang="zh-CN" dirty="0"/>
                  <a:t>梯度步（在外推点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处）：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r>
                  <a:rPr lang="en-US" altLang="zh-CN" dirty="0"/>
                  <a:t>Step 2 </a:t>
                </a:r>
                <a:r>
                  <a:rPr lang="zh-CN" altLang="zh-CN" dirty="0"/>
                  <a:t>近似点步（软阈值）：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prox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lit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r>
                  <a:rPr lang="en-US" altLang="zh-CN" dirty="0"/>
                  <a:t>Step 3 </a:t>
                </a:r>
                <a:r>
                  <a:rPr lang="zh-CN" altLang="zh-CN" dirty="0"/>
                  <a:t>动量参数更新：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bSup>
                                <m:sSubSup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r>
                  <a:rPr lang="en-US" altLang="zh-CN" dirty="0"/>
                  <a:t>Step 4 </a:t>
                </a:r>
                <a:r>
                  <a:rPr lang="zh-CN" altLang="zh-CN" dirty="0"/>
                  <a:t>外推点更新（动量项）：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968903E-FCEE-5499-5BAF-C8D0D8275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59" y="1379432"/>
                <a:ext cx="10331091" cy="5076967"/>
              </a:xfrm>
              <a:prstGeom prst="rect">
                <a:avLst/>
              </a:prstGeom>
              <a:blipFill>
                <a:blip r:embed="rId3"/>
                <a:stretch>
                  <a:fillRect l="-531" t="-600" r="-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27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D491-DE6F-4F93-39D6-873C2CB1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DA7984BF-6B0F-D084-CD56-AFF9F2F02378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9F4952D-F369-3957-F0AB-5FA31F2DD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2C09D8D7-BC14-D065-86EB-5E654A4F4915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336FD3-0AA9-5ED2-5122-FC3A190A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D2E96A-864A-4CF5-9BF5-840D6C2F4B8B}"/>
                  </a:ext>
                </a:extLst>
              </p:cNvPr>
              <p:cNvSpPr txBox="1"/>
              <p:nvPr/>
            </p:nvSpPr>
            <p:spPr>
              <a:xfrm>
                <a:off x="929659" y="1379432"/>
                <a:ext cx="10331091" cy="1980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与 </a:t>
                </a:r>
                <a:r>
                  <a:rPr lang="en-US" altLang="zh-CN" dirty="0"/>
                  <a:t>ISTA </a:t>
                </a:r>
                <a:r>
                  <a:rPr lang="zh-CN" altLang="zh-CN" dirty="0"/>
                  <a:t>相比，唯一区别是把梯度计算点从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换成了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。外推系数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dirty="0"/>
                  <a:t>随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增大趋近于 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。当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较大时，外推点几乎沿上一步方向再“冲”一段，类似物理惯性。</a:t>
                </a:r>
                <a:endParaRPr lang="en-US" altLang="zh-CN" dirty="0"/>
              </a:p>
              <a:p>
                <a:r>
                  <a:rPr lang="en-US" altLang="zh-CN" dirty="0"/>
                  <a:t>ISTA </a:t>
                </a:r>
                <a:r>
                  <a:rPr lang="zh-CN" altLang="zh-CN" dirty="0"/>
                  <a:t>每步只用当前梯度，而 </a:t>
                </a:r>
                <a:r>
                  <a:rPr lang="en-US" altLang="zh-CN" dirty="0"/>
                  <a:t>Nesterov </a:t>
                </a:r>
                <a:r>
                  <a:rPr lang="zh-CN" altLang="zh-CN" dirty="0"/>
                  <a:t>加速梯度法通过外推利用了历史方向信息。理论可证：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r>
                  <a:rPr lang="zh-CN" altLang="zh-CN" dirty="0"/>
                  <a:t>收敛率从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zh-CN" dirty="0"/>
                  <a:t>提升到了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，并且每步计算代价与 </a:t>
                </a:r>
                <a:r>
                  <a:rPr lang="en-US" altLang="zh-CN" dirty="0"/>
                  <a:t>ISTA </a:t>
                </a:r>
                <a:r>
                  <a:rPr lang="zh-CN" altLang="zh-CN" dirty="0"/>
                  <a:t>完全相同。</a:t>
                </a:r>
                <a:endParaRPr lang="zh-CN" altLang="zh-CN" dirty="0">
                  <a:effectLst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D2E96A-864A-4CF5-9BF5-840D6C2F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59" y="1379432"/>
                <a:ext cx="10331091" cy="1980157"/>
              </a:xfrm>
              <a:prstGeom prst="rect">
                <a:avLst/>
              </a:prstGeom>
              <a:blipFill>
                <a:blip r:embed="rId3"/>
                <a:stretch>
                  <a:fillRect l="-531" r="-2715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76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3B01-0217-9648-AE44-FEFB8FCB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3D036059-61FD-EE9A-F6CE-A1B441ED97DE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A3520F9-22F8-5ABB-2BC3-92A2AF869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399C95B1-03A1-FCEC-1521-24D265AB970A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ADD89F9-368B-6A2D-9D79-BAFBFDE8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390008-9926-ADA9-85EB-7B14E5F96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24" y="1479808"/>
            <a:ext cx="10826989" cy="41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6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653B-DADA-2380-E397-F5716124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C29950D5-C212-6FF9-1FE0-B9B0C2C48DEF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52B765C-A7CF-3846-9E48-CB4F7885A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DB575608-ED0E-93D6-00C6-81D906C67090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D3E514-2674-FDB0-F122-FFA270D2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F30693-7451-9B6A-AEB7-90FA10CF4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633" y="1307204"/>
            <a:ext cx="7854734" cy="48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1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3B8C-CBCB-F2A9-31CD-CC0A060D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DF01DF3C-2FFF-2C72-922A-CB1950A83E1C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C170C1C-09E0-9AA7-8891-18095CFA6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A923AC70-1820-30F1-0E67-147EE5CF2F7A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6D4737-EE32-CE07-212C-8D8D18C0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7BC5D5-99D3-908A-3C33-FF1884177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80" y="2079522"/>
            <a:ext cx="10687050" cy="30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9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82AD-3EA1-C008-D9DA-B02F975E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0E192C6D-F833-D04D-4773-178DEACDF24F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AF30109-10D1-5157-8D33-B686A3E33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CB639B93-CB2B-F338-9170-7F6D969F18FC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C80571F-5866-6320-6F89-91BB2AF3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0E84D5-C368-2D62-3B65-C0B4C4F5D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23" y="1411391"/>
            <a:ext cx="9941754" cy="403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9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9677-51C8-2818-BA77-02E21770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43F2D1CA-B8E0-6612-B40E-658EC9F531E3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7CDA48-14DD-4637-3FB9-46851157B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AF0CD812-A878-AB7B-9450-CA191FB7634A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7035A9-84BD-D4AE-CEAD-A853221E5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FISTA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1C7F6-EDC0-BDCE-972C-7A910DB07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74" y="1675753"/>
            <a:ext cx="10167402" cy="351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0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02B00-8220-A42C-5F19-7F8FD94A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BC83553-AFB4-7DEC-A281-EA62581CCC4F}"/>
              </a:ext>
            </a:extLst>
          </p:cNvPr>
          <p:cNvSpPr/>
          <p:nvPr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FD854A8-92F1-9486-DCCD-B5774F4345A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7" y="804233"/>
            <a:ext cx="10368945" cy="6047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41143C4-A5BB-9DD9-BEA2-789126ADF228}"/>
              </a:ext>
            </a:extLst>
          </p:cNvPr>
          <p:cNvSpPr/>
          <p:nvPr/>
        </p:nvSpPr>
        <p:spPr>
          <a:xfrm>
            <a:off x="3334871" y="653140"/>
            <a:ext cx="8857128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D050672-4ECE-03E8-2287-7873FBF10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B2BC8AC-3CC0-BEB7-A500-CF5C7A504F32}"/>
              </a:ext>
            </a:extLst>
          </p:cNvPr>
          <p:cNvSpPr txBox="1"/>
          <p:nvPr/>
        </p:nvSpPr>
        <p:spPr>
          <a:xfrm>
            <a:off x="1098477" y="3006756"/>
            <a:ext cx="99950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Coordinate Descent</a:t>
            </a:r>
            <a:endParaRPr lang="zh-CN" altLang="en-US" sz="6600" b="1" spc="6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50E0D78-4EF6-A99F-7377-BA0110FF955C}"/>
              </a:ext>
            </a:extLst>
          </p:cNvPr>
          <p:cNvCxnSpPr>
            <a:cxnSpLocks/>
          </p:cNvCxnSpPr>
          <p:nvPr/>
        </p:nvCxnSpPr>
        <p:spPr>
          <a:xfrm>
            <a:off x="3931956" y="4265269"/>
            <a:ext cx="4328086" cy="0"/>
          </a:xfrm>
          <a:prstGeom prst="line">
            <a:avLst/>
          </a:prstGeom>
          <a:ln w="38100">
            <a:solidFill>
              <a:srgbClr val="0E4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495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744E-CFED-6E66-A2CD-4F8FEF25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87237B9C-ACF5-FB77-81AF-F73ED4DA8E9A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EE864ED-6E7E-48B7-1546-99B2A3769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ACEF1218-6D44-71B1-DACC-9BA334C06B7A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406AA3-1342-6815-3549-D96A60B7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75DF45D-93EE-B849-16E1-14BA2CC5DD91}"/>
                  </a:ext>
                </a:extLst>
              </p:cNvPr>
              <p:cNvSpPr txBox="1"/>
              <p:nvPr/>
            </p:nvSpPr>
            <p:spPr>
              <a:xfrm>
                <a:off x="909128" y="1543334"/>
                <a:ext cx="10331091" cy="5117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核心思想：</a:t>
                </a:r>
                <a:endParaRPr lang="en-US" altLang="zh-CN" dirty="0"/>
              </a:p>
              <a:p>
                <a:r>
                  <a:rPr lang="zh-CN" altLang="en-US" dirty="0"/>
                  <a:t>梯度类方法（</a:t>
                </a:r>
                <a:r>
                  <a:rPr lang="en-US" altLang="zh-CN" dirty="0"/>
                  <a:t>ISTA/FISTA</a:t>
                </a:r>
                <a:r>
                  <a:rPr lang="zh-CN" altLang="en-US" dirty="0"/>
                  <a:t>）每步更新全部坐标，步长受限于全局 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常数。当特征间相关性高时，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常数很大 → 步长很小 → 收敛慢。坐标下降法绕开了这个问题：</a:t>
                </a:r>
                <a:endParaRPr lang="en-US" altLang="zh-CN" dirty="0"/>
              </a:p>
              <a:p>
                <a:r>
                  <a:rPr lang="en-US" altLang="zh-CN" dirty="0"/>
                  <a:t>-</a:t>
                </a:r>
                <a:r>
                  <a:rPr lang="zh-CN" altLang="en-US" dirty="0"/>
                  <a:t>每次只更新一个坐标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en-US" altLang="zh-CN" dirty="0"/>
                  <a:t>-</a:t>
                </a:r>
                <a:r>
                  <a:rPr lang="zh-CN" altLang="en-US" dirty="0"/>
                  <a:t>在该坐标方向上做精确最小化（而非仅走一步梯度）</a:t>
                </a:r>
                <a:endParaRPr lang="en-US" altLang="zh-CN" dirty="0"/>
              </a:p>
              <a:p>
                <a:r>
                  <a:rPr lang="en-US" altLang="zh-CN" dirty="0"/>
                  <a:t>-</a:t>
                </a:r>
                <a:r>
                  <a:rPr lang="zh-CN" altLang="en-US" dirty="0"/>
                  <a:t>步长由该特征的二阶信息自动确定</a:t>
                </a:r>
                <a:endParaRPr lang="en-US" altLang="zh-CN" dirty="0"/>
              </a:p>
              <a:p>
                <a:r>
                  <a:rPr lang="zh-CN" altLang="en-US" dirty="0"/>
                  <a:t>坐标下降法的核心思想是“每次只优化一个坐标”，将高维优化问题分解为一系列一维子问题。对 </a:t>
                </a:r>
                <a:r>
                  <a:rPr lang="en-US" altLang="zh-CN" dirty="0"/>
                  <a:t>LASSO </a:t>
                </a:r>
                <a:r>
                  <a:rPr lang="zh-CN" altLang="en-US" dirty="0"/>
                  <a:t>而言，每个一维子问题有闭式解。</a:t>
                </a:r>
                <a:endParaRPr lang="en-US" altLang="zh-CN" dirty="0"/>
              </a:p>
              <a:p>
                <a:r>
                  <a:rPr lang="zh-CN" altLang="en-US" dirty="0"/>
                  <a:t>固定除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外的所有坐标，一维子问题为：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lim>
                          </m:limLow>
                        </m:fName>
                        <m:e/>
                      </m:func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 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是除去第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个特征后的残差。</a:t>
                </a:r>
                <a:endParaRPr lang="en-US" altLang="zh-CN" dirty="0"/>
              </a:p>
              <a:p>
                <a:r>
                  <a:rPr lang="zh-CN" altLang="en-US" dirty="0"/>
                  <a:t>该子问题的闭式解为：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lit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>
                            <a:latin typeface="Cambria Math" panose="02040503050406030204" pitchFamily="18" charset="0"/>
                          </a:rPr>
                          <m:t>sign</m:t>
                        </m:r>
                      </m:fName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func>
                    <m:r>
                      <a:rPr lang="zh-CN" altLang="en-US" i="1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dirty="0"/>
                  <a:t>为“软阈值函数”。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75DF45D-93EE-B849-16E1-14BA2CC5D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8" y="1543334"/>
                <a:ext cx="10331091" cy="5117042"/>
              </a:xfrm>
              <a:prstGeom prst="rect">
                <a:avLst/>
              </a:prstGeom>
              <a:blipFill>
                <a:blip r:embed="rId3"/>
                <a:stretch>
                  <a:fillRect l="-472" t="-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75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BE3C-2157-2477-A12D-3FE24444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1D89171E-6CF7-718E-6BA8-8F974D3C7E0D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31F163B-FA32-6627-0B0E-DE58217D1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CA5E1563-7C35-537B-371A-2FFCCF776E98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9F59EF-D51C-8E22-5C91-4D3C5A4C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算法核心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ED300D-32DE-90E9-1E40-D4702BB00A85}"/>
                  </a:ext>
                </a:extLst>
              </p:cNvPr>
              <p:cNvSpPr txBox="1"/>
              <p:nvPr/>
            </p:nvSpPr>
            <p:spPr>
              <a:xfrm>
                <a:off x="909128" y="1543334"/>
                <a:ext cx="10331091" cy="384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高效实现：</a:t>
                </a:r>
                <a:endParaRPr lang="en-US" altLang="zh-CN" dirty="0"/>
              </a:p>
              <a:p>
                <a:r>
                  <a:rPr lang="zh-CN" altLang="en-US" dirty="0"/>
                  <a:t>为减少计算量，维护残差向量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zh-CN" altLang="en-US" dirty="0"/>
                  <a:t>，更新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时仅需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dirty="0"/>
                  <a:t>操作：</a:t>
                </a:r>
                <a:endParaRPr lang="en-US" altLang="zh-CN" dirty="0"/>
              </a:p>
              <a:p>
                <a:pPr marL="342900" indent="-342900">
                  <a:buAutoNum type="arabicPeriod"/>
                </a:pPr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2. </a:t>
                </a:r>
                <a:r>
                  <a:rPr lang="zh-CN" altLang="en-US" dirty="0"/>
                  <a:t>更新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lit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3. </a:t>
                </a:r>
                <a:r>
                  <a:rPr lang="zh-CN" altLang="en-US" dirty="0"/>
                  <a:t>增量更新残差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Active Set </a:t>
                </a:r>
                <a:r>
                  <a:rPr lang="zh-CN" altLang="en-US" dirty="0"/>
                  <a:t>加速策略：</a:t>
                </a:r>
                <a:endParaRPr lang="en-US" altLang="zh-CN" dirty="0"/>
              </a:p>
              <a:p>
                <a:r>
                  <a:rPr lang="zh-CN" altLang="en-US" dirty="0"/>
                  <a:t>对于高维稀疏问题，绝大多数坐标始终为零。</a:t>
                </a:r>
                <a:r>
                  <a:rPr lang="en-US" altLang="zh-CN" dirty="0"/>
                  <a:t>Active Set </a:t>
                </a:r>
                <a:r>
                  <a:rPr lang="zh-CN" altLang="en-US" dirty="0"/>
                  <a:t>策略仅更新当前非零坐标或违反 </a:t>
                </a:r>
                <a:r>
                  <a:rPr lang="en-US" altLang="zh-CN" dirty="0"/>
                  <a:t>KKT </a:t>
                </a:r>
                <a:r>
                  <a:rPr lang="zh-CN" altLang="en-US" dirty="0"/>
                  <a:t>条件的坐标，大幅减少无效计算。</a:t>
                </a:r>
                <a:endParaRPr lang="en-US" altLang="zh-CN" dirty="0"/>
              </a:p>
              <a:p>
                <a:r>
                  <a:rPr lang="en-US" altLang="zh-CN" dirty="0"/>
                  <a:t>KKT </a:t>
                </a:r>
                <a:r>
                  <a:rPr lang="zh-CN" altLang="en-US" dirty="0"/>
                  <a:t>最优性条件：</a:t>
                </a:r>
                <a:endParaRPr lang="en-US" altLang="zh-CN" dirty="0"/>
              </a:p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zh-CN" altLang="en-US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 smtClean="0">
                            <a:latin typeface="Cambria Math" panose="02040503050406030204" pitchFamily="18" charset="0"/>
                          </a:rPr>
                          <m:t>sign</m:t>
                        </m:r>
                      </m:fName>
                      <m:e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zh-CN" altLang="en-US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ED300D-32DE-90E9-1E40-D4702BB00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8" y="1543334"/>
                <a:ext cx="10331091" cy="3840539"/>
              </a:xfrm>
              <a:prstGeom prst="rect">
                <a:avLst/>
              </a:prstGeom>
              <a:blipFill>
                <a:blip r:embed="rId3"/>
                <a:stretch>
                  <a:fillRect l="-472" t="-794" r="-295" b="-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6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C7BEE-8EBF-4AE9-06C3-27F2AED5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4F92B401-5819-9163-EB2D-24F5D8AD684F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28EE09D-CF24-8DB8-3491-ACFCBA8DE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8B1F79FE-3717-1F94-7C98-A65FD0390D2F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689F1E-5731-74AF-C4DA-DEAB26AD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72617A-B0FB-2E9C-4F59-A0E447215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11" y="1479808"/>
            <a:ext cx="11052388" cy="432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89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8A4E-7E09-9741-50C7-D7402D0E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BDDFE315-8DB0-88E7-D63E-134889EC2F71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DDD16B9-15D5-7023-9773-061D9E490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B5AD5D62-F5A5-65F2-896C-2F260C434882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4CE1D16-2228-F63C-151E-B049D82AC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809465-2D38-2E73-E169-6E20C4EED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4" y="1675753"/>
            <a:ext cx="10360926" cy="397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6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B2776-350E-857A-96D4-FB181012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087CAFA7-3A9D-58EE-A93A-B307362CBE63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C1804CC-EC9A-8B13-AC54-2FC99CB39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2BB0ADEC-6407-9E49-1B3D-F5B87B198D6E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E64AB9-B70B-9017-3C4A-000C6D97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10604-6BEB-B1EC-E361-DC49D7B04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8" y="1861455"/>
            <a:ext cx="11140074" cy="33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28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0663-07F5-3399-A33D-BFFD5DFE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353BC85D-FE85-937F-DB9D-88E02DDC9C09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9FFDD69-FF41-F2D9-11DA-38E664C83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A0C3E047-EA53-0BB7-256A-689586CC4E83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5714678-B596-9798-3DA9-F22769A6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702D98-CC6B-1CB9-64D7-CAF59296C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111" y="1479808"/>
            <a:ext cx="7761778" cy="495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00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4422-9D2D-6CD4-DB95-5BCAB9F7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ṡḻîdê">
            <a:extLst>
              <a:ext uri="{FF2B5EF4-FFF2-40B4-BE49-F238E27FC236}">
                <a16:creationId xmlns:a16="http://schemas.microsoft.com/office/drawing/2014/main" id="{8AFF9411-AB23-9FE2-2C4A-DF5424782CA7}"/>
              </a:ext>
            </a:extLst>
          </p:cNvPr>
          <p:cNvSpPr/>
          <p:nvPr/>
        </p:nvSpPr>
        <p:spPr>
          <a:xfrm>
            <a:off x="0" y="0"/>
            <a:ext cx="12192000" cy="4159045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1239E6D-3462-E2CE-2A4F-1B824DDD7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2448" cy="1479808"/>
          </a:xfrm>
          <a:prstGeom prst="rect">
            <a:avLst/>
          </a:prstGeom>
        </p:spPr>
      </p:pic>
      <p:sp>
        <p:nvSpPr>
          <p:cNvPr id="7" name="iš1íḍè">
            <a:extLst>
              <a:ext uri="{FF2B5EF4-FFF2-40B4-BE49-F238E27FC236}">
                <a16:creationId xmlns:a16="http://schemas.microsoft.com/office/drawing/2014/main" id="{13308F89-D376-4997-C09D-CDD7F47E6094}"/>
              </a:ext>
            </a:extLst>
          </p:cNvPr>
          <p:cNvSpPr/>
          <p:nvPr/>
        </p:nvSpPr>
        <p:spPr>
          <a:xfrm>
            <a:off x="291588" y="1028700"/>
            <a:ext cx="11608824" cy="5615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0BDFE5-C54D-212A-DB18-FA16FCC6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48192"/>
            <a:ext cx="10850563" cy="584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Coordinate Descent</a:t>
            </a:r>
            <a:r>
              <a:rPr lang="zh-CN" altLang="en-US" dirty="0">
                <a:solidFill>
                  <a:schemeClr val="bg1"/>
                </a:solidFill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3DA21A-64D9-9DBB-B802-345C9E536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8" y="1080946"/>
            <a:ext cx="8570412" cy="550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27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C85E757-F932-4A4A-A4B7-7FF1040BFE8A}"/>
              </a:ext>
            </a:extLst>
          </p:cNvPr>
          <p:cNvSpPr/>
          <p:nvPr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E40B21-0CC1-498B-86F8-E2C8671D1A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7" y="804233"/>
            <a:ext cx="10368945" cy="6047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4C0B2F5-577E-4D09-AFCC-D031F88146BB}"/>
              </a:ext>
            </a:extLst>
          </p:cNvPr>
          <p:cNvSpPr/>
          <p:nvPr/>
        </p:nvSpPr>
        <p:spPr>
          <a:xfrm>
            <a:off x="3334871" y="653140"/>
            <a:ext cx="8857128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1AB0B9C-C717-4690-8AB7-603F08176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8A94BAE-8D51-49E8-9826-6427BB8E334A}"/>
              </a:ext>
            </a:extLst>
          </p:cNvPr>
          <p:cNvSpPr txBox="1"/>
          <p:nvPr/>
        </p:nvSpPr>
        <p:spPr>
          <a:xfrm>
            <a:off x="4274976" y="3081727"/>
            <a:ext cx="48013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谢谢观看！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156BC22-C153-41E9-A15A-94A6291D0696}"/>
              </a:ext>
            </a:extLst>
          </p:cNvPr>
          <p:cNvCxnSpPr>
            <a:cxnSpLocks/>
          </p:cNvCxnSpPr>
          <p:nvPr/>
        </p:nvCxnSpPr>
        <p:spPr>
          <a:xfrm>
            <a:off x="3931956" y="4265269"/>
            <a:ext cx="4328086" cy="0"/>
          </a:xfrm>
          <a:prstGeom prst="line">
            <a:avLst/>
          </a:prstGeom>
          <a:ln w="38100">
            <a:solidFill>
              <a:srgbClr val="0E4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258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AE1C0AAE9E96E55B71CAF86B6BFCB9184C013F8D4631CCFCFC2E53AA4C824F12" val="[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主题5">
  <a:themeElements>
    <a:clrScheme name="20171020-0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B4E72"/>
      </a:accent1>
      <a:accent2>
        <a:srgbClr val="2790B0"/>
      </a:accent2>
      <a:accent3>
        <a:srgbClr val="94BA65"/>
      </a:accent3>
      <a:accent4>
        <a:srgbClr val="353432"/>
      </a:accent4>
      <a:accent5>
        <a:srgbClr val="4E4D4A"/>
      </a:accent5>
      <a:accent6>
        <a:srgbClr val="BFBFBF"/>
      </a:accent6>
      <a:hlink>
        <a:srgbClr val="0077B5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1176</Words>
  <Application>Microsoft Office PowerPoint</Application>
  <PresentationFormat>宽屏</PresentationFormat>
  <Paragraphs>103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微软雅黑</vt:lpstr>
      <vt:lpstr>Arial</vt:lpstr>
      <vt:lpstr>Cambria Math</vt:lpstr>
      <vt:lpstr>Century Gothic</vt:lpstr>
      <vt:lpstr>主题5</vt:lpstr>
      <vt:lpstr>PowerPoint 演示文稿</vt:lpstr>
      <vt:lpstr>问题建模与算法选择</vt:lpstr>
      <vt:lpstr>PowerPoint 演示文稿</vt:lpstr>
      <vt:lpstr>Proximal Gradient算法核心</vt:lpstr>
      <vt:lpstr>Proximal Gradient实验</vt:lpstr>
      <vt:lpstr>PowerPoint 演示文稿</vt:lpstr>
      <vt:lpstr>FISTA算法核心</vt:lpstr>
      <vt:lpstr>FISTA算法核心</vt:lpstr>
      <vt:lpstr>FISTA算法核心</vt:lpstr>
      <vt:lpstr>FISTA实验</vt:lpstr>
      <vt:lpstr>FISTA实验</vt:lpstr>
      <vt:lpstr>FISTA实验</vt:lpstr>
      <vt:lpstr>FISTA实验</vt:lpstr>
      <vt:lpstr>FISTA实验</vt:lpstr>
      <vt:lpstr>PowerPoint 演示文稿</vt:lpstr>
      <vt:lpstr>Coordinate Descent算法核心</vt:lpstr>
      <vt:lpstr>Coordinate Descent算法核心</vt:lpstr>
      <vt:lpstr>Coordinate Descent实验</vt:lpstr>
      <vt:lpstr>Coordinate Descent实验</vt:lpstr>
      <vt:lpstr>Coordinate Descent实验</vt:lpstr>
      <vt:lpstr>Coordinate Descent实验</vt:lpstr>
      <vt:lpstr>Coordinate Descent实验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傅 永鸿</dc:creator>
  <cp:lastModifiedBy>Jiahang Li</cp:lastModifiedBy>
  <cp:revision>19</cp:revision>
  <dcterms:created xsi:type="dcterms:W3CDTF">2018-10-08T12:30:06Z</dcterms:created>
  <dcterms:modified xsi:type="dcterms:W3CDTF">2026-06-14T00:18:02Z</dcterms:modified>
</cp:coreProperties>
</file>